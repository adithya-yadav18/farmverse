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 (quintals/acre)</c:v>
                </c:pt>
              </c:strCache>
            </c:strRef>
          </c:tx>
          <c:spPr>
            <a:solidFill>
              <a:srgbClr val="4A5D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Wheat</c:v>
                </c:pt>
                <c:pt idx="1">
                  <c:v>Maize</c:v>
                </c:pt>
                <c:pt idx="2">
                  <c:v>Ragi</c:v>
                </c:pt>
                <c:pt idx="3">
                  <c:v>Pulses</c:v>
                </c:pt>
                <c:pt idx="4">
                  <c:v>Cotton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24</c:v>
                </c:pt>
                <c:pt idx="2">
                  <c:v>15</c:v>
                </c:pt>
                <c:pt idx="3">
                  <c:v>11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F9-4DFE-A3D7-B527F8C5758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D4D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"/>
          <c:min val="0"/>
        </c:scaling>
        <c:delete val="0"/>
        <c:axPos val="l"/>
        <c:majorGridlines>
          <c:spPr>
            <a:ln w="9525" cap="flat">
              <a:solidFill>
                <a:srgbClr val="D4C9A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D1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406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png"/><Relationship Id="rId18" Type="http://schemas.openxmlformats.org/officeDocument/2006/relationships/image" Target="../media/image26.png"/><Relationship Id="rId26" Type="http://schemas.openxmlformats.org/officeDocument/2006/relationships/image" Target="../media/image32.png"/><Relationship Id="rId3" Type="http://schemas.openxmlformats.org/officeDocument/2006/relationships/image" Target="../media/image16.png"/><Relationship Id="rId21" Type="http://schemas.openxmlformats.org/officeDocument/2006/relationships/image" Target="../media/image28.png"/><Relationship Id="rId7" Type="http://schemas.openxmlformats.org/officeDocument/2006/relationships/image" Target="../media/image20.png"/><Relationship Id="rId12" Type="http://schemas.openxmlformats.org/officeDocument/2006/relationships/image" Target="../media/image5.png"/><Relationship Id="rId17" Type="http://schemas.openxmlformats.org/officeDocument/2006/relationships/image" Target="../media/image25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2.png"/><Relationship Id="rId20" Type="http://schemas.openxmlformats.org/officeDocument/2006/relationships/image" Target="../media/image27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24" Type="http://schemas.openxmlformats.org/officeDocument/2006/relationships/image" Target="../media/image14.png"/><Relationship Id="rId5" Type="http://schemas.openxmlformats.org/officeDocument/2006/relationships/image" Target="../media/image18.png"/><Relationship Id="rId15" Type="http://schemas.openxmlformats.org/officeDocument/2006/relationships/image" Target="../media/image6.png"/><Relationship Id="rId23" Type="http://schemas.openxmlformats.org/officeDocument/2006/relationships/image" Target="../media/image30.png"/><Relationship Id="rId28" Type="http://schemas.openxmlformats.org/officeDocument/2006/relationships/image" Target="../media/image34.png"/><Relationship Id="rId10" Type="http://schemas.openxmlformats.org/officeDocument/2006/relationships/image" Target="../media/image22.png"/><Relationship Id="rId19" Type="http://schemas.openxmlformats.org/officeDocument/2006/relationships/image" Target="../media/image13.png"/><Relationship Id="rId4" Type="http://schemas.openxmlformats.org/officeDocument/2006/relationships/image" Target="../media/image17.png"/><Relationship Id="rId9" Type="http://schemas.openxmlformats.org/officeDocument/2006/relationships/image" Target="../media/image10.png"/><Relationship Id="rId14" Type="http://schemas.openxmlformats.org/officeDocument/2006/relationships/image" Target="../media/image11.png"/><Relationship Id="rId22" Type="http://schemas.openxmlformats.org/officeDocument/2006/relationships/image" Target="../media/image29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6.png"/><Relationship Id="rId5" Type="http://schemas.openxmlformats.org/officeDocument/2006/relationships/image" Target="../media/image10.png"/><Relationship Id="rId10" Type="http://schemas.openxmlformats.org/officeDocument/2006/relationships/image" Target="../media/image11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9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32.png"/><Relationship Id="rId18" Type="http://schemas.openxmlformats.org/officeDocument/2006/relationships/image" Target="../media/image30.png"/><Relationship Id="rId3" Type="http://schemas.openxmlformats.org/officeDocument/2006/relationships/image" Target="../media/image60.png"/><Relationship Id="rId21" Type="http://schemas.openxmlformats.org/officeDocument/2006/relationships/image" Target="../media/image26.png"/><Relationship Id="rId7" Type="http://schemas.openxmlformats.org/officeDocument/2006/relationships/image" Target="../media/image24.png"/><Relationship Id="rId12" Type="http://schemas.openxmlformats.org/officeDocument/2006/relationships/image" Target="../media/image62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8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31.png"/><Relationship Id="rId5" Type="http://schemas.openxmlformats.org/officeDocument/2006/relationships/image" Target="../media/image10.png"/><Relationship Id="rId15" Type="http://schemas.openxmlformats.org/officeDocument/2006/relationships/image" Target="../media/image27.png"/><Relationship Id="rId10" Type="http://schemas.openxmlformats.org/officeDocument/2006/relationships/image" Target="../media/image6.png"/><Relationship Id="rId19" Type="http://schemas.openxmlformats.org/officeDocument/2006/relationships/image" Target="../media/image25.png"/><Relationship Id="rId4" Type="http://schemas.openxmlformats.org/officeDocument/2006/relationships/image" Target="../media/image61.png"/><Relationship Id="rId9" Type="http://schemas.openxmlformats.org/officeDocument/2006/relationships/image" Target="../media/image5.png"/><Relationship Id="rId14" Type="http://schemas.openxmlformats.org/officeDocument/2006/relationships/image" Target="../media/image13.png"/><Relationship Id="rId22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70.png"/><Relationship Id="rId18" Type="http://schemas.openxmlformats.org/officeDocument/2006/relationships/image" Target="../media/image74.png"/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12" Type="http://schemas.openxmlformats.org/officeDocument/2006/relationships/image" Target="../media/image59.png"/><Relationship Id="rId17" Type="http://schemas.openxmlformats.org/officeDocument/2006/relationships/image" Target="../media/image7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69.png"/><Relationship Id="rId5" Type="http://schemas.openxmlformats.org/officeDocument/2006/relationships/image" Target="../media/image47.png"/><Relationship Id="rId15" Type="http://schemas.openxmlformats.org/officeDocument/2006/relationships/image" Target="../media/image49.png"/><Relationship Id="rId10" Type="http://schemas.openxmlformats.org/officeDocument/2006/relationships/image" Target="../media/image68.png"/><Relationship Id="rId19" Type="http://schemas.openxmlformats.org/officeDocument/2006/relationships/image" Target="../media/image48.png"/><Relationship Id="rId4" Type="http://schemas.openxmlformats.org/officeDocument/2006/relationships/image" Target="../media/image64.png"/><Relationship Id="rId9" Type="http://schemas.openxmlformats.org/officeDocument/2006/relationships/image" Target="../media/image67.png"/><Relationship Id="rId14" Type="http://schemas.openxmlformats.org/officeDocument/2006/relationships/image" Target="../media/image7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3.png"/><Relationship Id="rId7" Type="http://schemas.openxmlformats.org/officeDocument/2006/relationships/image" Target="../media/image57.png"/><Relationship Id="rId12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50.png"/><Relationship Id="rId5" Type="http://schemas.openxmlformats.org/officeDocument/2006/relationships/image" Target="../media/image47.png"/><Relationship Id="rId10" Type="http://schemas.openxmlformats.org/officeDocument/2006/relationships/image" Target="../media/image74.png"/><Relationship Id="rId4" Type="http://schemas.openxmlformats.org/officeDocument/2006/relationships/image" Target="../media/image17.png"/><Relationship Id="rId9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76.png"/><Relationship Id="rId7" Type="http://schemas.openxmlformats.org/officeDocument/2006/relationships/image" Target="../media/image86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89.png"/><Relationship Id="rId5" Type="http://schemas.openxmlformats.org/officeDocument/2006/relationships/image" Target="../media/image67.png"/><Relationship Id="rId10" Type="http://schemas.openxmlformats.org/officeDocument/2006/relationships/image" Target="../media/image35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rmverse_v2/bg/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25780"/>
            <a:ext cx="777240" cy="7772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4" name="Image 1" descr="/home/claude/farmverse_v2/icons/brand_ol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79" y="700659"/>
            <a:ext cx="427482" cy="42748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228600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FARMVERSE</a:t>
            </a:r>
            <a:endParaRPr lang="en-US" sz="6000" dirty="0"/>
          </a:p>
        </p:txBody>
      </p:sp>
      <p:sp>
        <p:nvSpPr>
          <p:cNvPr id="6" name="Text 2"/>
          <p:cNvSpPr txBox="1"/>
          <p:nvPr/>
        </p:nvSpPr>
        <p:spPr>
          <a:xfrm>
            <a:off x="530352" y="32461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Farm Operations Platform with Smart </a:t>
            </a:r>
            <a:r>
              <a:rPr lang="en-US" sz="2400" i="1" dirty="0" err="1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</a:t>
            </a:r>
            <a:r>
              <a:rPr lang="en-US" sz="24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Precision System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30352" y="4617719"/>
            <a:ext cx="3611880" cy="1463903"/>
          </a:xfrm>
          <a:prstGeom prst="roundRect">
            <a:avLst>
              <a:gd name="adj" fmla="val 4667"/>
            </a:avLst>
          </a:prstGeom>
          <a:solidFill>
            <a:srgbClr val="15190A">
              <a:alpha val="60000"/>
            </a:srgbClr>
          </a:solidFill>
          <a:ln w="9525">
            <a:solidFill>
              <a:srgbClr val="D4A017">
                <a:alpha val="6500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584499" y="5104938"/>
            <a:ext cx="3246120" cy="4894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4306824" y="4617720"/>
            <a:ext cx="3611880" cy="1463902"/>
          </a:xfrm>
          <a:prstGeom prst="roundRect">
            <a:avLst>
              <a:gd name="adj" fmla="val 4667"/>
            </a:avLst>
          </a:prstGeom>
          <a:solidFill>
            <a:srgbClr val="15190A">
              <a:alpha val="60000"/>
            </a:srgbClr>
          </a:solidFill>
          <a:ln w="9525">
            <a:solidFill>
              <a:srgbClr val="D4A017">
                <a:alpha val="6500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837176" y="491119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PROGRAM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745736" y="5327327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83296" y="4617720"/>
            <a:ext cx="3611880" cy="1463902"/>
          </a:xfrm>
          <a:prstGeom prst="roundRect">
            <a:avLst>
              <a:gd name="adj" fmla="val 4667"/>
            </a:avLst>
          </a:prstGeom>
          <a:solidFill>
            <a:srgbClr val="15190A">
              <a:alpha val="60000"/>
            </a:srgbClr>
          </a:solidFill>
          <a:ln w="9525">
            <a:solidFill>
              <a:srgbClr val="D4A017">
                <a:alpha val="6500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162288" y="487961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9418320" y="525866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Ragul 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30352" y="6172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rmverse_v2/bg/bg_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1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farming needs a digital upgrade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6720840" cy="804672"/>
          </a:xfrm>
          <a:prstGeom prst="roundRect">
            <a:avLst>
              <a:gd name="adj" fmla="val 681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95528" y="1627632"/>
            <a:ext cx="566928" cy="566928"/>
          </a:xfrm>
          <a:prstGeom prst="ellipse">
            <a:avLst/>
          </a:prstGeom>
          <a:solidFill>
            <a:srgbClr val="C65D3A"/>
          </a:solidFill>
          <a:ln/>
        </p:spPr>
      </p:sp>
      <p:pic>
        <p:nvPicPr>
          <p:cNvPr id="7" name="Image 1" descr="/home/claude/farmverse_v2/icons/prob_weath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91" y="1763695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81328" y="1600200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Weather Awareness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481328" y="1911096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lack timely, localized forecasts for planning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2441448"/>
            <a:ext cx="6720840" cy="804672"/>
          </a:xfrm>
          <a:prstGeom prst="roundRect">
            <a:avLst>
              <a:gd name="adj" fmla="val 681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95528" y="2560320"/>
            <a:ext cx="566928" cy="566928"/>
          </a:xfrm>
          <a:prstGeom prst="ellipse">
            <a:avLst/>
          </a:prstGeom>
          <a:solidFill>
            <a:srgbClr val="C65D3A"/>
          </a:solidFill>
          <a:ln/>
        </p:spPr>
      </p:sp>
      <p:pic>
        <p:nvPicPr>
          <p:cNvPr id="12" name="Image 2" descr="/home/claude/farmverse_v2/icons/prob_irrig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91" y="269638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81328" y="2532888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Irrigation Planning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481328" y="2843784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applied on guesswork, not soil or crop need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3374136"/>
            <a:ext cx="6720840" cy="804672"/>
          </a:xfrm>
          <a:prstGeom prst="roundRect">
            <a:avLst>
              <a:gd name="adj" fmla="val 681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95528" y="3493008"/>
            <a:ext cx="566928" cy="566928"/>
          </a:xfrm>
          <a:prstGeom prst="ellipse">
            <a:avLst/>
          </a:prstGeom>
          <a:solidFill>
            <a:srgbClr val="C65D3A"/>
          </a:solidFill>
          <a:ln/>
        </p:spPr>
      </p:sp>
      <p:pic>
        <p:nvPicPr>
          <p:cNvPr id="17" name="Image 3" descr="/home/claude/farmverse_v2/icons/prob_dise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591" y="3629071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81328" y="3465576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 Losses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1481328" y="3776472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detection of disease leads to avoidable crop damage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48640" y="4306824"/>
            <a:ext cx="6720840" cy="804672"/>
          </a:xfrm>
          <a:prstGeom prst="roundRect">
            <a:avLst>
              <a:gd name="adj" fmla="val 681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95528" y="4425696"/>
            <a:ext cx="566928" cy="566928"/>
          </a:xfrm>
          <a:prstGeom prst="ellipse">
            <a:avLst/>
          </a:prstGeom>
          <a:solidFill>
            <a:srgbClr val="C65D3A"/>
          </a:solidFill>
          <a:ln/>
        </p:spPr>
      </p:sp>
      <p:pic>
        <p:nvPicPr>
          <p:cNvPr id="22" name="Image 4" descr="/home/claude/farmverse_v2/icons/prob_record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591" y="4561759"/>
            <a:ext cx="294803" cy="29480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81328" y="4398264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 Keeping</a:t>
            </a:r>
            <a:endParaRPr lang="en-US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1481328" y="4709160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logs are error-prone and hard to analyze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548640" y="5239512"/>
            <a:ext cx="6720840" cy="804672"/>
          </a:xfrm>
          <a:prstGeom prst="roundRect">
            <a:avLst>
              <a:gd name="adj" fmla="val 681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95528" y="5358384"/>
            <a:ext cx="566928" cy="566928"/>
          </a:xfrm>
          <a:prstGeom prst="ellipse">
            <a:avLst/>
          </a:prstGeom>
          <a:solidFill>
            <a:srgbClr val="C65D3A"/>
          </a:solidFill>
          <a:ln/>
        </p:spPr>
      </p:sp>
      <p:pic>
        <p:nvPicPr>
          <p:cNvPr id="27" name="Image 5" descr="/home/claude/farmverse_v2/icons/prob_productivit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591" y="5494447"/>
            <a:ext cx="294803" cy="294803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81328" y="5330952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Productivity</a:t>
            </a:r>
            <a:endParaRPr lang="en-US" sz="2000" dirty="0"/>
          </a:p>
        </p:txBody>
      </p:sp>
      <p:sp>
        <p:nvSpPr>
          <p:cNvPr id="29" name="Text 21"/>
          <p:cNvSpPr txBox="1"/>
          <p:nvPr/>
        </p:nvSpPr>
        <p:spPr>
          <a:xfrm>
            <a:off x="1481328" y="5641848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data means missed yield opportunities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7498080" y="1508760"/>
            <a:ext cx="4160520" cy="4617720"/>
          </a:xfrm>
          <a:prstGeom prst="roundRect">
            <a:avLst>
              <a:gd name="adj" fmla="val 1978"/>
            </a:avLst>
          </a:prstGeom>
          <a:solidFill>
            <a:srgbClr val="15190A">
              <a:alpha val="92000"/>
            </a:srgbClr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7818120" y="18288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2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INDUSTRY SNAPSHOT</a:t>
            </a:r>
            <a:endParaRPr lang="en-US" dirty="0"/>
          </a:p>
        </p:txBody>
      </p:sp>
      <p:sp>
        <p:nvSpPr>
          <p:cNvPr id="32" name="Text 24"/>
          <p:cNvSpPr txBox="1"/>
          <p:nvPr/>
        </p:nvSpPr>
        <p:spPr>
          <a:xfrm>
            <a:off x="7772400" y="219456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5800" dirty="0"/>
          </a:p>
        </p:txBody>
      </p:sp>
      <p:sp>
        <p:nvSpPr>
          <p:cNvPr id="33" name="Text 25"/>
          <p:cNvSpPr txBox="1"/>
          <p:nvPr/>
        </p:nvSpPr>
        <p:spPr>
          <a:xfrm>
            <a:off x="7818120" y="329184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potential yield can be lost to untimely irrigation, weather surprises, and late disease detection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7818120" y="4480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2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2000" dirty="0"/>
          </a:p>
        </p:txBody>
      </p:sp>
      <p:sp>
        <p:nvSpPr>
          <p:cNvPr id="35" name="Text 27"/>
          <p:cNvSpPr txBox="1"/>
          <p:nvPr/>
        </p:nvSpPr>
        <p:spPr>
          <a:xfrm>
            <a:off x="7818120" y="4818888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8C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data on weather, soil, crops, and irrigation stays scattered and disconnected — with no single platform turning it into a timely decision.</a:t>
            </a:r>
            <a:endParaRPr lang="en-US" sz="16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 |  Infosys Springboard Internship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rmverse_v2/bg/bg_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1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now spans 22 modules across six connected pillars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080760" y="3611880"/>
            <a:ext cx="0" cy="0"/>
          </a:xfrm>
          <a:prstGeom prst="line">
            <a:avLst/>
          </a:prstGeom>
          <a:noFill/>
          <a:ln w="19050">
            <a:solidFill>
              <a:srgbClr val="D4C9A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80760" y="3611880"/>
            <a:ext cx="0" cy="1691640"/>
          </a:xfrm>
          <a:prstGeom prst="line">
            <a:avLst/>
          </a:prstGeom>
          <a:noFill/>
          <a:ln w="19050">
            <a:solidFill>
              <a:srgbClr val="D4C9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80760" y="3611880"/>
            <a:ext cx="0" cy="845820"/>
          </a:xfrm>
          <a:prstGeom prst="line">
            <a:avLst/>
          </a:prstGeom>
          <a:noFill/>
          <a:ln w="19050">
            <a:solidFill>
              <a:srgbClr val="D4C9A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80760" y="3611880"/>
            <a:ext cx="0" cy="0"/>
          </a:xfrm>
          <a:prstGeom prst="line">
            <a:avLst/>
          </a:prstGeom>
          <a:noFill/>
          <a:ln w="19050">
            <a:solidFill>
              <a:srgbClr val="D4C9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12080" y="2934536"/>
            <a:ext cx="1737360" cy="1737360"/>
          </a:xfrm>
          <a:prstGeom prst="ellipse">
            <a:avLst/>
          </a:prstGeom>
          <a:solidFill>
            <a:srgbClr val="15190A"/>
          </a:solidFill>
          <a:ln w="22225">
            <a:solidFill>
              <a:srgbClr val="D4A017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318760" y="3381509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FarmVerse</a:t>
            </a:r>
            <a:endParaRPr lang="en-US" sz="14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692140" y="1531620"/>
            <a:ext cx="777240" cy="777240"/>
          </a:xfrm>
          <a:prstGeom prst="ellipse">
            <a:avLst/>
          </a:prstGeom>
          <a:solidFill>
            <a:srgbClr val="4A5D23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14" name="Image 1" descr="/home/claude/farmverse_v2/icons/pillar_o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450" y="1725930"/>
            <a:ext cx="388620" cy="3886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47277" y="234315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</a:t>
            </a:r>
            <a:endParaRPr lang="en-US" sz="16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157143" y="2377440"/>
            <a:ext cx="777240" cy="777240"/>
          </a:xfrm>
          <a:prstGeom prst="ellipse">
            <a:avLst/>
          </a:prstGeom>
          <a:solidFill>
            <a:srgbClr val="3D4D1C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17" name="Image 2" descr="/home/claude/farmverse_v2/icons/pillar_int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453" y="257175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41820" y="32964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</a:t>
            </a:r>
            <a:endParaRPr lang="en-US" sz="16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Intel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157143" y="4069080"/>
            <a:ext cx="777240" cy="777240"/>
          </a:xfrm>
          <a:prstGeom prst="ellipse">
            <a:avLst/>
          </a:prstGeom>
          <a:solidFill>
            <a:srgbClr val="4A5D23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20" name="Image 3" descr="/home/claude/farmverse_v2/icons/pillar_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453" y="426339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4892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Advisory</a:t>
            </a:r>
            <a:endParaRPr lang="en-US" sz="16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Crop Care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692140" y="4914900"/>
            <a:ext cx="777240" cy="777240"/>
          </a:xfrm>
          <a:prstGeom prst="ellipse">
            <a:avLst/>
          </a:prstGeom>
          <a:solidFill>
            <a:srgbClr val="3D4D1C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23" name="Image 4" descr="/home/claude/farmverse_v2/icons/pillar_mar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6450" y="5109210"/>
            <a:ext cx="388620" cy="3886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47277" y="576179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</a:t>
            </a:r>
            <a:endParaRPr lang="en-US" sz="16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4227137" y="4069080"/>
            <a:ext cx="777240" cy="777240"/>
          </a:xfrm>
          <a:prstGeom prst="ellipse">
            <a:avLst/>
          </a:prstGeom>
          <a:solidFill>
            <a:srgbClr val="4A5D23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26" name="Image 5" descr="/home/claude/farmverse_v2/icons/pillar_tru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1447" y="4263390"/>
            <a:ext cx="388620" cy="3886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884237" y="49423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</a:t>
            </a:r>
            <a:endParaRPr lang="en-US" sz="16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4227137" y="2377440"/>
            <a:ext cx="777240" cy="777240"/>
          </a:xfrm>
          <a:prstGeom prst="ellipse">
            <a:avLst/>
          </a:prstGeom>
          <a:solidFill>
            <a:srgbClr val="3D4D1C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29" name="Image 6" descr="/home/claude/farmverse_v2/icons/pillar_suppo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1447" y="2571750"/>
            <a:ext cx="388620" cy="38862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813781" y="3243101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</a:t>
            </a:r>
            <a:endParaRPr lang="en-US" sz="16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 |  Infosys Springboard Internship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rmverse_v2/bg/bg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77240" y="960120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15190A"/>
          </a:solidFill>
          <a:ln/>
        </p:spPr>
      </p:sp>
      <p:pic>
        <p:nvPicPr>
          <p:cNvPr id="5" name="Image 1" descr="/home/claude/farmverse_v2/icons/arch_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1133856"/>
            <a:ext cx="310896" cy="3108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35608" y="960120"/>
            <a:ext cx="2478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/ User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078224" y="1179576"/>
            <a:ext cx="438912" cy="219456"/>
          </a:xfrm>
          <a:prstGeom prst="rightArrow">
            <a:avLst/>
          </a:prstGeom>
          <a:solidFill>
            <a:srgbClr val="8B7E5C"/>
          </a:solidFill>
          <a:ln/>
        </p:spPr>
      </p:sp>
      <p:sp>
        <p:nvSpPr>
          <p:cNvPr id="8" name="Shape 4"/>
          <p:cNvSpPr/>
          <p:nvPr/>
        </p:nvSpPr>
        <p:spPr>
          <a:xfrm>
            <a:off x="4572000" y="960120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4A5D23"/>
          </a:solidFill>
          <a:ln/>
        </p:spPr>
      </p:sp>
      <p:pic>
        <p:nvPicPr>
          <p:cNvPr id="9" name="Image 2" descr="/home/claude/farmverse_v2/icons/arch_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1133856"/>
            <a:ext cx="310896" cy="31089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0368" y="960120"/>
            <a:ext cx="2478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TS + Vite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7872984" y="1179576"/>
            <a:ext cx="438912" cy="219456"/>
          </a:xfrm>
          <a:prstGeom prst="rightArrow">
            <a:avLst/>
          </a:prstGeom>
          <a:solidFill>
            <a:srgbClr val="8B7E5C"/>
          </a:solidFill>
          <a:ln/>
        </p:spPr>
      </p:sp>
      <p:sp>
        <p:nvSpPr>
          <p:cNvPr id="12" name="Shape 7"/>
          <p:cNvSpPr/>
          <p:nvPr/>
        </p:nvSpPr>
        <p:spPr>
          <a:xfrm>
            <a:off x="8366760" y="960120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D4A017"/>
          </a:solidFill>
          <a:ln/>
        </p:spPr>
      </p:sp>
      <p:pic>
        <p:nvPicPr>
          <p:cNvPr id="13" name="Image 3" descr="/home/claude/farmverse_v2/icons/arch_a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4" y="1133856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025128" y="960120"/>
            <a:ext cx="2478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(JSON)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48640" y="1828800"/>
            <a:ext cx="11109960" cy="3520440"/>
          </a:xfrm>
          <a:prstGeom prst="roundRect">
            <a:avLst>
              <a:gd name="adj" fmla="val 2078"/>
            </a:avLst>
          </a:prstGeom>
          <a:solidFill>
            <a:srgbClr val="15190A">
              <a:alpha val="94000"/>
            </a:srgbClr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822960" y="19659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  —  22 Modules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04672" y="2331720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18" name="Image 4" descr="/home/claude/farmverse_v2/icons/mod_aut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2468880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88720" y="2331720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2642616" y="2331720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21" name="Image 5" descr="/home/claude/farmverse_v2/icons/mod_farm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4056" y="2468880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3026664" y="2331720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Mgmt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4480560" y="2331720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24" name="Image 6" descr="/home/claude/farmverse_v2/icons/mod_far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2395728"/>
            <a:ext cx="310896" cy="31089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4937760" y="2326717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Mgmt</a:t>
            </a:r>
            <a:endParaRPr lang="en-US" sz="1400" dirty="0"/>
          </a:p>
        </p:txBody>
      </p:sp>
      <p:sp>
        <p:nvSpPr>
          <p:cNvPr id="26" name="Shape 17"/>
          <p:cNvSpPr/>
          <p:nvPr/>
        </p:nvSpPr>
        <p:spPr>
          <a:xfrm>
            <a:off x="6318504" y="2331720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27" name="Image 7" descr="/home/claude/farmverse_v2/icons/mod_cro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9944" y="2468880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702552" y="2331720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Mgmt</a:t>
            </a:r>
            <a:endParaRPr lang="en-US" sz="1400" dirty="0"/>
          </a:p>
        </p:txBody>
      </p:sp>
      <p:sp>
        <p:nvSpPr>
          <p:cNvPr id="29" name="Shape 19"/>
          <p:cNvSpPr/>
          <p:nvPr/>
        </p:nvSpPr>
        <p:spPr>
          <a:xfrm>
            <a:off x="8156448" y="2331720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30" name="Image 8" descr="/home/claude/farmverse_v2/icons/mod_soi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7888" y="2468880"/>
            <a:ext cx="237744" cy="23774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8540496" y="2331720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Analysis</a:t>
            </a:r>
            <a:endParaRPr lang="en-US" sz="1400" dirty="0"/>
          </a:p>
        </p:txBody>
      </p:sp>
      <p:sp>
        <p:nvSpPr>
          <p:cNvPr id="32" name="Shape 21"/>
          <p:cNvSpPr/>
          <p:nvPr/>
        </p:nvSpPr>
        <p:spPr>
          <a:xfrm>
            <a:off x="9994392" y="2331720"/>
            <a:ext cx="1618488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33" name="Image 9" descr="/home/claude/farmverse_v2/icons/mod_irrigat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85832" y="2468880"/>
            <a:ext cx="237744" cy="23774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0378440" y="2331720"/>
            <a:ext cx="1264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+ IoT</a:t>
            </a:r>
            <a:endParaRPr lang="en-US" sz="1400" dirty="0"/>
          </a:p>
        </p:txBody>
      </p:sp>
      <p:sp>
        <p:nvSpPr>
          <p:cNvPr id="35" name="Shape 23"/>
          <p:cNvSpPr/>
          <p:nvPr/>
        </p:nvSpPr>
        <p:spPr>
          <a:xfrm>
            <a:off x="804672" y="2935224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36" name="Image 10" descr="/home/claude/farmverse_v2/icons/mod_weath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6112" y="3072384"/>
            <a:ext cx="237744" cy="237744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1188720" y="2935224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400" dirty="0"/>
          </a:p>
        </p:txBody>
      </p:sp>
      <p:sp>
        <p:nvSpPr>
          <p:cNvPr id="38" name="Shape 25"/>
          <p:cNvSpPr/>
          <p:nvPr/>
        </p:nvSpPr>
        <p:spPr>
          <a:xfrm>
            <a:off x="2642616" y="2935224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39" name="Image 11" descr="/home/claude/farmverse_v2/icons/mod_satell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34056" y="3072384"/>
            <a:ext cx="237744" cy="237744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3026664" y="2935224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NDVI</a:t>
            </a:r>
            <a:endParaRPr lang="en-US" sz="1400" dirty="0"/>
          </a:p>
        </p:txBody>
      </p:sp>
      <p:sp>
        <p:nvSpPr>
          <p:cNvPr id="41" name="Shape 27"/>
          <p:cNvSpPr/>
          <p:nvPr/>
        </p:nvSpPr>
        <p:spPr>
          <a:xfrm>
            <a:off x="4480560" y="2935224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42" name="Image 12" descr="/home/claude/farmverse_v2/icons/mod_diseas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0" y="3072384"/>
            <a:ext cx="237744" cy="237744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4940808" y="2927978"/>
            <a:ext cx="1231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</a:t>
            </a:r>
            <a:endParaRPr lang="en-US" sz="1400" dirty="0"/>
          </a:p>
        </p:txBody>
      </p:sp>
      <p:sp>
        <p:nvSpPr>
          <p:cNvPr id="44" name="Shape 29"/>
          <p:cNvSpPr/>
          <p:nvPr/>
        </p:nvSpPr>
        <p:spPr>
          <a:xfrm>
            <a:off x="6318504" y="2935224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45" name="Image 13" descr="/home/claude/farmverse_v2/icons/mod_ai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9944" y="3072384"/>
            <a:ext cx="237744" cy="237744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6702552" y="2935224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Advisory</a:t>
            </a:r>
            <a:endParaRPr lang="en-US" sz="1400" dirty="0"/>
          </a:p>
        </p:txBody>
      </p:sp>
      <p:sp>
        <p:nvSpPr>
          <p:cNvPr id="47" name="Shape 31"/>
          <p:cNvSpPr/>
          <p:nvPr/>
        </p:nvSpPr>
        <p:spPr>
          <a:xfrm>
            <a:off x="8156448" y="2935224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48" name="Image 14" descr="/home/claude/farmverse_v2/icons/mod_simulator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47888" y="3072384"/>
            <a:ext cx="237744" cy="237744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540496" y="2935224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Simulator</a:t>
            </a:r>
            <a:endParaRPr lang="en-US" sz="1400" dirty="0"/>
          </a:p>
        </p:txBody>
      </p:sp>
      <p:sp>
        <p:nvSpPr>
          <p:cNvPr id="50" name="Shape 33"/>
          <p:cNvSpPr/>
          <p:nvPr/>
        </p:nvSpPr>
        <p:spPr>
          <a:xfrm>
            <a:off x="9994392" y="2935224"/>
            <a:ext cx="1618488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51" name="Image 15" descr="/home/claude/farmverse_v2/icons/mod_voic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85832" y="3072384"/>
            <a:ext cx="237744" cy="237744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10378440" y="2935224"/>
            <a:ext cx="1264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</a:t>
            </a:r>
            <a:endParaRPr lang="en-US" sz="1400" dirty="0"/>
          </a:p>
        </p:txBody>
      </p:sp>
      <p:sp>
        <p:nvSpPr>
          <p:cNvPr id="53" name="Shape 35"/>
          <p:cNvSpPr/>
          <p:nvPr/>
        </p:nvSpPr>
        <p:spPr>
          <a:xfrm>
            <a:off x="804672" y="3538728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54" name="Image 16" descr="/home/claude/farmverse_v2/icons/mod_mandi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6112" y="3675888"/>
            <a:ext cx="237744" cy="237744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1188720" y="3538728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Prices</a:t>
            </a:r>
            <a:endParaRPr lang="en-US" sz="1400" dirty="0"/>
          </a:p>
        </p:txBody>
      </p:sp>
      <p:sp>
        <p:nvSpPr>
          <p:cNvPr id="56" name="Shape 37"/>
          <p:cNvSpPr/>
          <p:nvPr/>
        </p:nvSpPr>
        <p:spPr>
          <a:xfrm>
            <a:off x="2642616" y="3538728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57" name="Image 17" descr="/home/claude/farmverse_v2/icons/mod_credi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34056" y="3675888"/>
            <a:ext cx="237744" cy="237744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3026664" y="3538728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</a:t>
            </a:r>
            <a:endParaRPr lang="en-US" sz="1400" dirty="0"/>
          </a:p>
        </p:txBody>
      </p:sp>
      <p:sp>
        <p:nvSpPr>
          <p:cNvPr id="59" name="Shape 39"/>
          <p:cNvSpPr/>
          <p:nvPr/>
        </p:nvSpPr>
        <p:spPr>
          <a:xfrm>
            <a:off x="4480560" y="3538728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60" name="Image 18" descr="/home/claude/farmverse_v2/icons/mod_carbon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0" y="3675888"/>
            <a:ext cx="237744" cy="237744"/>
          </a:xfrm>
          <a:prstGeom prst="rect">
            <a:avLst/>
          </a:prstGeom>
        </p:spPr>
      </p:pic>
      <p:sp>
        <p:nvSpPr>
          <p:cNvPr id="61" name="Text 40"/>
          <p:cNvSpPr txBox="1"/>
          <p:nvPr/>
        </p:nvSpPr>
        <p:spPr>
          <a:xfrm>
            <a:off x="4940808" y="3538728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</a:t>
            </a:r>
            <a:endParaRPr lang="en-US" sz="1400" dirty="0"/>
          </a:p>
        </p:txBody>
      </p:sp>
      <p:sp>
        <p:nvSpPr>
          <p:cNvPr id="62" name="Shape 41"/>
          <p:cNvSpPr/>
          <p:nvPr/>
        </p:nvSpPr>
        <p:spPr>
          <a:xfrm>
            <a:off x="6318504" y="3538728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63" name="Image 19" descr="/home/claude/farmverse_v2/icons/mod_equipment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9944" y="3675888"/>
            <a:ext cx="237744" cy="237744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6748272" y="3547872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Rental</a:t>
            </a:r>
            <a:endParaRPr lang="en-US" sz="1400" dirty="0"/>
          </a:p>
        </p:txBody>
      </p:sp>
      <p:sp>
        <p:nvSpPr>
          <p:cNvPr id="65" name="Shape 43"/>
          <p:cNvSpPr/>
          <p:nvPr/>
        </p:nvSpPr>
        <p:spPr>
          <a:xfrm>
            <a:off x="8156448" y="3538728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66" name="Image 20" descr="/home/claude/farmverse_v2/icons/mod_rescu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47888" y="3675888"/>
            <a:ext cx="237744" cy="237744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8540496" y="3538728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Rescue</a:t>
            </a:r>
            <a:endParaRPr lang="en-US" sz="1400" dirty="0"/>
          </a:p>
        </p:txBody>
      </p:sp>
      <p:sp>
        <p:nvSpPr>
          <p:cNvPr id="68" name="Shape 45"/>
          <p:cNvSpPr/>
          <p:nvPr/>
        </p:nvSpPr>
        <p:spPr>
          <a:xfrm>
            <a:off x="9994392" y="3538728"/>
            <a:ext cx="1618488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69" name="Image 21" descr="/home/claude/farmverse_v2/icons/mod_trac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085832" y="3675888"/>
            <a:ext cx="237744" cy="237744"/>
          </a:xfrm>
          <a:prstGeom prst="rect">
            <a:avLst/>
          </a:prstGeom>
        </p:spPr>
      </p:pic>
      <p:sp>
        <p:nvSpPr>
          <p:cNvPr id="70" name="Text 46"/>
          <p:cNvSpPr txBox="1"/>
          <p:nvPr/>
        </p:nvSpPr>
        <p:spPr>
          <a:xfrm>
            <a:off x="10378440" y="3538728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400" dirty="0"/>
          </a:p>
        </p:txBody>
      </p:sp>
      <p:sp>
        <p:nvSpPr>
          <p:cNvPr id="71" name="Shape 47"/>
          <p:cNvSpPr/>
          <p:nvPr/>
        </p:nvSpPr>
        <p:spPr>
          <a:xfrm>
            <a:off x="804672" y="4142232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72" name="Image 22" descr="/home/claude/farmverse_v2/icons/mod_notify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6112" y="4279392"/>
            <a:ext cx="237744" cy="237744"/>
          </a:xfrm>
          <a:prstGeom prst="rect">
            <a:avLst/>
          </a:prstGeom>
        </p:spPr>
      </p:pic>
      <p:sp>
        <p:nvSpPr>
          <p:cNvPr id="73" name="Text 48"/>
          <p:cNvSpPr txBox="1"/>
          <p:nvPr/>
        </p:nvSpPr>
        <p:spPr>
          <a:xfrm>
            <a:off x="1188720" y="4142232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74" name="Shape 49"/>
          <p:cNvSpPr/>
          <p:nvPr/>
        </p:nvSpPr>
        <p:spPr>
          <a:xfrm>
            <a:off x="2642616" y="4142232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75" name="Image 23" descr="/home/claude/farmverse_v2/icons/mod_report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734056" y="4279392"/>
            <a:ext cx="237744" cy="237744"/>
          </a:xfrm>
          <a:prstGeom prst="rect">
            <a:avLst/>
          </a:prstGeom>
        </p:spPr>
      </p:pic>
      <p:sp>
        <p:nvSpPr>
          <p:cNvPr id="76" name="Text 50"/>
          <p:cNvSpPr txBox="1"/>
          <p:nvPr/>
        </p:nvSpPr>
        <p:spPr>
          <a:xfrm>
            <a:off x="3026664" y="4142232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77" name="Shape 51"/>
          <p:cNvSpPr/>
          <p:nvPr/>
        </p:nvSpPr>
        <p:spPr>
          <a:xfrm>
            <a:off x="4480560" y="4142232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78" name="Image 24" descr="/home/claude/farmverse_v2/icons/mod_admin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72000" y="4279392"/>
            <a:ext cx="237744" cy="237744"/>
          </a:xfrm>
          <a:prstGeom prst="rect">
            <a:avLst/>
          </a:prstGeom>
        </p:spPr>
      </p:pic>
      <p:sp>
        <p:nvSpPr>
          <p:cNvPr id="79" name="Text 52"/>
          <p:cNvSpPr txBox="1"/>
          <p:nvPr/>
        </p:nvSpPr>
        <p:spPr>
          <a:xfrm>
            <a:off x="4937760" y="4142232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Governance</a:t>
            </a:r>
            <a:endParaRPr lang="en-US" sz="1400" dirty="0"/>
          </a:p>
        </p:txBody>
      </p:sp>
      <p:sp>
        <p:nvSpPr>
          <p:cNvPr id="80" name="Shape 53"/>
          <p:cNvSpPr/>
          <p:nvPr/>
        </p:nvSpPr>
        <p:spPr>
          <a:xfrm>
            <a:off x="6318504" y="4142232"/>
            <a:ext cx="1764792" cy="512064"/>
          </a:xfrm>
          <a:prstGeom prst="roundRect">
            <a:avLst>
              <a:gd name="adj" fmla="val 44643"/>
            </a:avLst>
          </a:prstGeom>
          <a:solidFill>
            <a:srgbClr val="4A5D23">
              <a:alpha val="85000"/>
            </a:srgbClr>
          </a:solidFill>
          <a:ln/>
        </p:spPr>
      </p:sp>
      <p:pic>
        <p:nvPicPr>
          <p:cNvPr id="81" name="Image 25" descr="/home/claude/farmverse_v2/icons/mod_settings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09944" y="4279392"/>
            <a:ext cx="237744" cy="237744"/>
          </a:xfrm>
          <a:prstGeom prst="rect">
            <a:avLst/>
          </a:prstGeom>
        </p:spPr>
      </p:pic>
      <p:sp>
        <p:nvSpPr>
          <p:cNvPr id="82" name="Text 54"/>
          <p:cNvSpPr txBox="1"/>
          <p:nvPr/>
        </p:nvSpPr>
        <p:spPr>
          <a:xfrm>
            <a:off x="6702552" y="4142232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400" dirty="0"/>
          </a:p>
        </p:txBody>
      </p:sp>
      <p:sp>
        <p:nvSpPr>
          <p:cNvPr id="83" name="Shape 55"/>
          <p:cNvSpPr/>
          <p:nvPr/>
        </p:nvSpPr>
        <p:spPr>
          <a:xfrm>
            <a:off x="777240" y="5486400"/>
            <a:ext cx="3520440" cy="777240"/>
          </a:xfrm>
          <a:prstGeom prst="roundRect">
            <a:avLst>
              <a:gd name="adj" fmla="val 823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84" name="Shape 56"/>
          <p:cNvSpPr/>
          <p:nvPr/>
        </p:nvSpPr>
        <p:spPr>
          <a:xfrm>
            <a:off x="1005840" y="5646420"/>
            <a:ext cx="457200" cy="457200"/>
          </a:xfrm>
          <a:prstGeom prst="ellipse">
            <a:avLst/>
          </a:prstGeom>
          <a:solidFill>
            <a:srgbClr val="4A5D23"/>
          </a:solidFill>
          <a:ln/>
        </p:spPr>
      </p:sp>
      <p:pic>
        <p:nvPicPr>
          <p:cNvPr id="85" name="Image 26" descr="/home/claude/farmverse_v2/icons/arch_db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15568" y="5756148"/>
            <a:ext cx="237744" cy="237744"/>
          </a:xfrm>
          <a:prstGeom prst="rect">
            <a:avLst/>
          </a:prstGeom>
        </p:spPr>
      </p:pic>
      <p:sp>
        <p:nvSpPr>
          <p:cNvPr id="86" name="Text 57"/>
          <p:cNvSpPr txBox="1"/>
          <p:nvPr/>
        </p:nvSpPr>
        <p:spPr>
          <a:xfrm>
            <a:off x="1581912" y="55778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dirty="0"/>
          </a:p>
        </p:txBody>
      </p:sp>
      <p:sp>
        <p:nvSpPr>
          <p:cNvPr id="87" name="Text 58"/>
          <p:cNvSpPr txBox="1"/>
          <p:nvPr/>
        </p:nvSpPr>
        <p:spPr>
          <a:xfrm>
            <a:off x="1581912" y="58704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relational data (26 entities)</a:t>
            </a:r>
            <a:endParaRPr lang="en-US" sz="1200" dirty="0"/>
          </a:p>
        </p:txBody>
      </p:sp>
      <p:sp>
        <p:nvSpPr>
          <p:cNvPr id="88" name="Shape 59"/>
          <p:cNvSpPr/>
          <p:nvPr/>
        </p:nvSpPr>
        <p:spPr>
          <a:xfrm>
            <a:off x="4553712" y="5486400"/>
            <a:ext cx="3520440" cy="777240"/>
          </a:xfrm>
          <a:prstGeom prst="roundRect">
            <a:avLst>
              <a:gd name="adj" fmla="val 823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89" name="Shape 60"/>
          <p:cNvSpPr/>
          <p:nvPr/>
        </p:nvSpPr>
        <p:spPr>
          <a:xfrm>
            <a:off x="4782312" y="564642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90" name="Image 27" descr="/home/claude/farmverse_v2/icons/arch_gemini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892040" y="5756148"/>
            <a:ext cx="237744" cy="237744"/>
          </a:xfrm>
          <a:prstGeom prst="rect">
            <a:avLst/>
          </a:prstGeom>
        </p:spPr>
      </p:pic>
      <p:sp>
        <p:nvSpPr>
          <p:cNvPr id="91" name="Text 61"/>
          <p:cNvSpPr txBox="1"/>
          <p:nvPr/>
        </p:nvSpPr>
        <p:spPr>
          <a:xfrm>
            <a:off x="5358384" y="55778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</a:t>
            </a:r>
            <a:endParaRPr lang="en-US" dirty="0"/>
          </a:p>
        </p:txBody>
      </p:sp>
      <p:sp>
        <p:nvSpPr>
          <p:cNvPr id="92" name="Text 62"/>
          <p:cNvSpPr txBox="1"/>
          <p:nvPr/>
        </p:nvSpPr>
        <p:spPr>
          <a:xfrm>
            <a:off x="5239512" y="5870448"/>
            <a:ext cx="2843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advisory + image-based disease vision</a:t>
            </a:r>
            <a:endParaRPr lang="en-US" sz="1200" dirty="0"/>
          </a:p>
        </p:txBody>
      </p:sp>
      <p:sp>
        <p:nvSpPr>
          <p:cNvPr id="93" name="Shape 63"/>
          <p:cNvSpPr/>
          <p:nvPr/>
        </p:nvSpPr>
        <p:spPr>
          <a:xfrm>
            <a:off x="8330184" y="5486400"/>
            <a:ext cx="3520440" cy="777240"/>
          </a:xfrm>
          <a:prstGeom prst="roundRect">
            <a:avLst>
              <a:gd name="adj" fmla="val 823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94" name="Shape 64"/>
          <p:cNvSpPr/>
          <p:nvPr/>
        </p:nvSpPr>
        <p:spPr>
          <a:xfrm>
            <a:off x="8558784" y="5646420"/>
            <a:ext cx="457200" cy="457200"/>
          </a:xfrm>
          <a:prstGeom prst="ellipse">
            <a:avLst/>
          </a:prstGeom>
          <a:solidFill>
            <a:srgbClr val="15190A"/>
          </a:solidFill>
          <a:ln/>
        </p:spPr>
      </p:sp>
      <p:pic>
        <p:nvPicPr>
          <p:cNvPr id="95" name="Image 28" descr="/home/claude/farmverse_v2/icons/arch_openmete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68512" y="5756148"/>
            <a:ext cx="237744" cy="237744"/>
          </a:xfrm>
          <a:prstGeom prst="rect">
            <a:avLst/>
          </a:prstGeom>
        </p:spPr>
      </p:pic>
      <p:sp>
        <p:nvSpPr>
          <p:cNvPr id="96" name="Text 65"/>
          <p:cNvSpPr txBox="1"/>
          <p:nvPr/>
        </p:nvSpPr>
        <p:spPr>
          <a:xfrm>
            <a:off x="9134856" y="55778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</a:t>
            </a:r>
            <a:endParaRPr lang="en-US" dirty="0"/>
          </a:p>
        </p:txBody>
      </p:sp>
      <p:sp>
        <p:nvSpPr>
          <p:cNvPr id="97" name="Text 66"/>
          <p:cNvSpPr txBox="1"/>
          <p:nvPr/>
        </p:nvSpPr>
        <p:spPr>
          <a:xfrm>
            <a:off x="9046522" y="5879592"/>
            <a:ext cx="28041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 + geocoding, no key required</a:t>
            </a:r>
            <a:endParaRPr lang="en-US" sz="1200" dirty="0"/>
          </a:p>
        </p:txBody>
      </p:sp>
      <p:sp>
        <p:nvSpPr>
          <p:cNvPr id="98" name="Text 67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 |  Infosys Springboard Internship</a:t>
            </a:r>
            <a:endParaRPr lang="en-US" sz="1100" dirty="0"/>
          </a:p>
        </p:txBody>
      </p:sp>
      <p:sp>
        <p:nvSpPr>
          <p:cNvPr id="99" name="Text 68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1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production-grade full stack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64592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4A5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955548" y="2212848"/>
            <a:ext cx="557784" cy="513527"/>
          </a:xfrm>
          <a:prstGeom prst="ellipse">
            <a:avLst/>
          </a:prstGeom>
          <a:solidFill>
            <a:srgbClr val="F5EDD8"/>
          </a:solidFill>
          <a:ln w="9525">
            <a:solidFill>
              <a:srgbClr val="D4C9A0"/>
            </a:solidFill>
            <a:prstDash val="solid"/>
          </a:ln>
        </p:spPr>
      </p:sp>
      <p:pic>
        <p:nvPicPr>
          <p:cNvPr id="7" name="Image 0" descr="/home/claude/farmverse_v2/icons/tech_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516" y="2321171"/>
            <a:ext cx="307729" cy="3077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90569" y="2212848"/>
            <a:ext cx="557784" cy="539496"/>
          </a:xfrm>
          <a:prstGeom prst="ellipse">
            <a:avLst/>
          </a:prstGeom>
          <a:solidFill>
            <a:srgbClr val="F5EDD8"/>
          </a:solidFill>
          <a:ln w="9525">
            <a:solidFill>
              <a:srgbClr val="D4C9A0"/>
            </a:solidFill>
            <a:prstDash val="solid"/>
          </a:ln>
        </p:spPr>
      </p:sp>
      <p:pic>
        <p:nvPicPr>
          <p:cNvPr id="9" name="Image 1" descr="/home/claude/farmverse_v2/icons/tech_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260" y="2313121"/>
            <a:ext cx="336742" cy="33674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80843" y="2212848"/>
            <a:ext cx="548153" cy="539496"/>
          </a:xfrm>
          <a:prstGeom prst="ellipse">
            <a:avLst/>
          </a:prstGeom>
          <a:solidFill>
            <a:srgbClr val="F5EDD8"/>
          </a:solidFill>
          <a:ln w="9525">
            <a:solidFill>
              <a:srgbClr val="D4C9A0"/>
            </a:solidFill>
            <a:prstDash val="solid"/>
          </a:ln>
        </p:spPr>
      </p:sp>
      <p:pic>
        <p:nvPicPr>
          <p:cNvPr id="11" name="Image 2" descr="/home/claude/farmverse_v2/icons/tech_v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2945" y="2357689"/>
            <a:ext cx="288027" cy="28802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25424" y="3044952"/>
            <a:ext cx="23134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Vite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3319272" y="14630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3520440" y="164592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4A5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3899916" y="2212848"/>
            <a:ext cx="658368" cy="658368"/>
          </a:xfrm>
          <a:prstGeom prst="ellipse">
            <a:avLst/>
          </a:prstGeom>
          <a:solidFill>
            <a:srgbClr val="F5EDD8"/>
          </a:solidFill>
          <a:ln w="9525">
            <a:solidFill>
              <a:srgbClr val="D4C9A0"/>
            </a:solidFill>
            <a:prstDash val="solid"/>
          </a:ln>
        </p:spPr>
      </p:sp>
      <p:pic>
        <p:nvPicPr>
          <p:cNvPr id="16" name="Image 3" descr="/home/claude/farmverse_v2/icons/tech_spr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4757" y="2357689"/>
            <a:ext cx="368686" cy="36868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686300" y="2212848"/>
            <a:ext cx="658368" cy="658368"/>
          </a:xfrm>
          <a:prstGeom prst="ellipse">
            <a:avLst/>
          </a:prstGeom>
          <a:solidFill>
            <a:srgbClr val="F5EDD8"/>
          </a:solidFill>
          <a:ln w="9525">
            <a:solidFill>
              <a:srgbClr val="D4C9A0"/>
            </a:solidFill>
            <a:prstDash val="solid"/>
          </a:ln>
        </p:spPr>
      </p:sp>
      <p:pic>
        <p:nvPicPr>
          <p:cNvPr id="18" name="Image 4" descr="/home/claude/farmverse_v2/icons/tech_jav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1141" y="2357689"/>
            <a:ext cx="368686" cy="36868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465576" y="3034214"/>
            <a:ext cx="23134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Java 21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6089904" y="14630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21" name="Text 14"/>
          <p:cNvSpPr txBox="1"/>
          <p:nvPr/>
        </p:nvSpPr>
        <p:spPr>
          <a:xfrm>
            <a:off x="6291072" y="164592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4A5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dirty="0"/>
          </a:p>
        </p:txBody>
      </p:sp>
      <p:sp>
        <p:nvSpPr>
          <p:cNvPr id="22" name="Shape 15"/>
          <p:cNvSpPr/>
          <p:nvPr/>
        </p:nvSpPr>
        <p:spPr>
          <a:xfrm>
            <a:off x="6670548" y="2212848"/>
            <a:ext cx="658368" cy="658368"/>
          </a:xfrm>
          <a:prstGeom prst="ellipse">
            <a:avLst/>
          </a:prstGeom>
          <a:solidFill>
            <a:srgbClr val="F5EDD8"/>
          </a:solidFill>
          <a:ln w="9525">
            <a:solidFill>
              <a:srgbClr val="D4C9A0"/>
            </a:solidFill>
            <a:prstDash val="solid"/>
          </a:ln>
        </p:spPr>
      </p:sp>
      <p:pic>
        <p:nvPicPr>
          <p:cNvPr id="23" name="Image 5" descr="/home/claude/farmverse_v2/icons/tech_securit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5389" y="2357689"/>
            <a:ext cx="368686" cy="368686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456932" y="2212848"/>
            <a:ext cx="658368" cy="658368"/>
          </a:xfrm>
          <a:prstGeom prst="ellipse">
            <a:avLst/>
          </a:prstGeom>
          <a:solidFill>
            <a:srgbClr val="F5EDD8"/>
          </a:solidFill>
          <a:ln w="9525">
            <a:solidFill>
              <a:srgbClr val="D4C9A0"/>
            </a:solidFill>
            <a:prstDash val="solid"/>
          </a:ln>
        </p:spPr>
      </p:sp>
      <p:pic>
        <p:nvPicPr>
          <p:cNvPr id="25" name="Image 6" descr="/home/claude/farmverse_v2/icons/tech_jw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1773" y="2357689"/>
            <a:ext cx="368686" cy="36868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241298" y="3077905"/>
            <a:ext cx="23134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600" dirty="0"/>
          </a:p>
        </p:txBody>
      </p:sp>
      <p:sp>
        <p:nvSpPr>
          <p:cNvPr id="27" name="Shape 18"/>
          <p:cNvSpPr/>
          <p:nvPr/>
        </p:nvSpPr>
        <p:spPr>
          <a:xfrm>
            <a:off x="8818812" y="14630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28" name="Text 19"/>
          <p:cNvSpPr txBox="1"/>
          <p:nvPr/>
        </p:nvSpPr>
        <p:spPr>
          <a:xfrm>
            <a:off x="9061704" y="164592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4A5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dirty="0"/>
          </a:p>
        </p:txBody>
      </p:sp>
      <p:sp>
        <p:nvSpPr>
          <p:cNvPr id="29" name="Shape 20"/>
          <p:cNvSpPr/>
          <p:nvPr/>
        </p:nvSpPr>
        <p:spPr>
          <a:xfrm>
            <a:off x="9834372" y="2212848"/>
            <a:ext cx="658368" cy="658368"/>
          </a:xfrm>
          <a:prstGeom prst="ellipse">
            <a:avLst/>
          </a:prstGeom>
          <a:solidFill>
            <a:srgbClr val="F5EDD8"/>
          </a:solidFill>
          <a:ln w="9525">
            <a:solidFill>
              <a:srgbClr val="D4C9A0"/>
            </a:solidFill>
            <a:prstDash val="solid"/>
          </a:ln>
        </p:spPr>
      </p:sp>
      <p:pic>
        <p:nvPicPr>
          <p:cNvPr id="30" name="Image 7" descr="/home/claude/farmverse_v2/icons/tech_mysq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79213" y="2357689"/>
            <a:ext cx="368686" cy="368686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995132" y="3054096"/>
            <a:ext cx="23134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600" dirty="0"/>
          </a:p>
        </p:txBody>
      </p:sp>
      <p:sp>
        <p:nvSpPr>
          <p:cNvPr id="32" name="Shape 22"/>
          <p:cNvSpPr/>
          <p:nvPr/>
        </p:nvSpPr>
        <p:spPr>
          <a:xfrm>
            <a:off x="548640" y="39776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33" name="Text 23"/>
          <p:cNvSpPr txBox="1"/>
          <p:nvPr/>
        </p:nvSpPr>
        <p:spPr>
          <a:xfrm>
            <a:off x="749808" y="416052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4A5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dirty="0"/>
          </a:p>
        </p:txBody>
      </p:sp>
      <p:sp>
        <p:nvSpPr>
          <p:cNvPr id="34" name="Shape 24"/>
          <p:cNvSpPr/>
          <p:nvPr/>
        </p:nvSpPr>
        <p:spPr>
          <a:xfrm>
            <a:off x="1522476" y="4727448"/>
            <a:ext cx="658368" cy="658368"/>
          </a:xfrm>
          <a:prstGeom prst="ellipse">
            <a:avLst/>
          </a:prstGeom>
          <a:solidFill>
            <a:srgbClr val="F5EDD8"/>
          </a:solidFill>
          <a:ln w="9525">
            <a:solidFill>
              <a:srgbClr val="D4C9A0"/>
            </a:solidFill>
            <a:prstDash val="solid"/>
          </a:ln>
        </p:spPr>
      </p:sp>
      <p:pic>
        <p:nvPicPr>
          <p:cNvPr id="35" name="Image 8" descr="/home/claude/farmverse_v2/icons/tech_hiberna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7317" y="4872289"/>
            <a:ext cx="368686" cy="368686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94944" y="5530657"/>
            <a:ext cx="23134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(Spring Data JPA)</a:t>
            </a:r>
            <a:endParaRPr lang="en-US" sz="1600" dirty="0"/>
          </a:p>
        </p:txBody>
      </p:sp>
      <p:sp>
        <p:nvSpPr>
          <p:cNvPr id="37" name="Shape 26"/>
          <p:cNvSpPr/>
          <p:nvPr/>
        </p:nvSpPr>
        <p:spPr>
          <a:xfrm>
            <a:off x="3319272" y="39776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38" name="Text 27"/>
          <p:cNvSpPr txBox="1"/>
          <p:nvPr/>
        </p:nvSpPr>
        <p:spPr>
          <a:xfrm>
            <a:off x="3520440" y="416052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4A5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VISION</a:t>
            </a:r>
            <a:endParaRPr lang="en-US" dirty="0"/>
          </a:p>
        </p:txBody>
      </p:sp>
      <p:sp>
        <p:nvSpPr>
          <p:cNvPr id="39" name="Shape 28"/>
          <p:cNvSpPr/>
          <p:nvPr/>
        </p:nvSpPr>
        <p:spPr>
          <a:xfrm>
            <a:off x="4293108" y="4727448"/>
            <a:ext cx="658368" cy="658368"/>
          </a:xfrm>
          <a:prstGeom prst="ellipse">
            <a:avLst/>
          </a:prstGeom>
          <a:solidFill>
            <a:srgbClr val="F5EDD8"/>
          </a:solidFill>
          <a:ln w="9525">
            <a:solidFill>
              <a:srgbClr val="D4C9A0"/>
            </a:solidFill>
            <a:prstDash val="solid"/>
          </a:ln>
        </p:spPr>
      </p:sp>
      <p:pic>
        <p:nvPicPr>
          <p:cNvPr id="40" name="Image 9" descr="/home/claude/farmverse_v2/icons/tech_gemin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37949" y="4872289"/>
            <a:ext cx="368686" cy="368686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3465576" y="5589013"/>
            <a:ext cx="23134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600" dirty="0"/>
          </a:p>
        </p:txBody>
      </p:sp>
      <p:sp>
        <p:nvSpPr>
          <p:cNvPr id="42" name="Shape 30"/>
          <p:cNvSpPr/>
          <p:nvPr/>
        </p:nvSpPr>
        <p:spPr>
          <a:xfrm>
            <a:off x="6089904" y="39776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43" name="Text 31"/>
          <p:cNvSpPr txBox="1"/>
          <p:nvPr/>
        </p:nvSpPr>
        <p:spPr>
          <a:xfrm>
            <a:off x="6291072" y="416052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4A5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</a:t>
            </a:r>
            <a:endParaRPr lang="en-US" dirty="0"/>
          </a:p>
        </p:txBody>
      </p:sp>
      <p:sp>
        <p:nvSpPr>
          <p:cNvPr id="44" name="Shape 32"/>
          <p:cNvSpPr/>
          <p:nvPr/>
        </p:nvSpPr>
        <p:spPr>
          <a:xfrm>
            <a:off x="7063740" y="4727448"/>
            <a:ext cx="658368" cy="658368"/>
          </a:xfrm>
          <a:prstGeom prst="ellipse">
            <a:avLst/>
          </a:prstGeom>
          <a:solidFill>
            <a:srgbClr val="F5EDD8"/>
          </a:solidFill>
          <a:ln w="9525">
            <a:solidFill>
              <a:srgbClr val="D4C9A0"/>
            </a:solidFill>
            <a:prstDash val="solid"/>
          </a:ln>
        </p:spPr>
      </p:sp>
      <p:pic>
        <p:nvPicPr>
          <p:cNvPr id="45" name="Image 10" descr="/home/claude/farmverse_v2/icons/tech_openmete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08581" y="4872289"/>
            <a:ext cx="368686" cy="368686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6236208" y="5541954"/>
            <a:ext cx="23134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(Weather + Geocoding)</a:t>
            </a:r>
            <a:endParaRPr lang="en-US" sz="1600" dirty="0"/>
          </a:p>
        </p:txBody>
      </p:sp>
      <p:sp>
        <p:nvSpPr>
          <p:cNvPr id="47" name="Shape 34"/>
          <p:cNvSpPr/>
          <p:nvPr/>
        </p:nvSpPr>
        <p:spPr>
          <a:xfrm>
            <a:off x="8860536" y="39776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48" name="Text 35"/>
          <p:cNvSpPr txBox="1"/>
          <p:nvPr/>
        </p:nvSpPr>
        <p:spPr>
          <a:xfrm>
            <a:off x="9061704" y="416052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4A5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UI</a:t>
            </a:r>
            <a:endParaRPr lang="en-US" dirty="0"/>
          </a:p>
        </p:txBody>
      </p:sp>
      <p:sp>
        <p:nvSpPr>
          <p:cNvPr id="49" name="Shape 36"/>
          <p:cNvSpPr/>
          <p:nvPr/>
        </p:nvSpPr>
        <p:spPr>
          <a:xfrm>
            <a:off x="9130284" y="4727448"/>
            <a:ext cx="420624" cy="420624"/>
          </a:xfrm>
          <a:prstGeom prst="ellipse">
            <a:avLst/>
          </a:prstGeom>
          <a:solidFill>
            <a:srgbClr val="F5EDD8"/>
          </a:solidFill>
          <a:ln w="9525">
            <a:solidFill>
              <a:srgbClr val="D4C9A0"/>
            </a:solidFill>
            <a:prstDash val="solid"/>
          </a:ln>
        </p:spPr>
      </p:sp>
      <p:pic>
        <p:nvPicPr>
          <p:cNvPr id="50" name="Image 11" descr="/home/claude/farmverse_v2/icons/tech_pd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2821" y="4819985"/>
            <a:ext cx="235549" cy="235549"/>
          </a:xfrm>
          <a:prstGeom prst="rect">
            <a:avLst/>
          </a:prstGeom>
        </p:spPr>
      </p:pic>
      <p:sp>
        <p:nvSpPr>
          <p:cNvPr id="51" name="Shape 37"/>
          <p:cNvSpPr/>
          <p:nvPr/>
        </p:nvSpPr>
        <p:spPr>
          <a:xfrm>
            <a:off x="9678924" y="4727448"/>
            <a:ext cx="420624" cy="420624"/>
          </a:xfrm>
          <a:prstGeom prst="ellipse">
            <a:avLst/>
          </a:prstGeom>
          <a:solidFill>
            <a:srgbClr val="F5EDD8"/>
          </a:solidFill>
          <a:ln w="9525">
            <a:solidFill>
              <a:srgbClr val="D4C9A0"/>
            </a:solidFill>
            <a:prstDash val="solid"/>
          </a:ln>
        </p:spPr>
      </p:sp>
      <p:pic>
        <p:nvPicPr>
          <p:cNvPr id="52" name="Image 12" descr="/home/claude/farmverse_v2/icons/tech_q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71461" y="4819985"/>
            <a:ext cx="235549" cy="235549"/>
          </a:xfrm>
          <a:prstGeom prst="rect">
            <a:avLst/>
          </a:prstGeom>
        </p:spPr>
      </p:pic>
      <p:sp>
        <p:nvSpPr>
          <p:cNvPr id="53" name="Shape 38"/>
          <p:cNvSpPr/>
          <p:nvPr/>
        </p:nvSpPr>
        <p:spPr>
          <a:xfrm>
            <a:off x="10227564" y="4727448"/>
            <a:ext cx="420624" cy="420624"/>
          </a:xfrm>
          <a:prstGeom prst="ellipse">
            <a:avLst/>
          </a:prstGeom>
          <a:solidFill>
            <a:srgbClr val="F5EDD8"/>
          </a:solidFill>
          <a:ln w="9525">
            <a:solidFill>
              <a:srgbClr val="D4C9A0"/>
            </a:solidFill>
            <a:prstDash val="solid"/>
          </a:ln>
        </p:spPr>
      </p:sp>
      <p:pic>
        <p:nvPicPr>
          <p:cNvPr id="54" name="Image 13" descr="/home/claude/farmverse_v2/icons/tech_rechart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20101" y="4819985"/>
            <a:ext cx="235549" cy="235549"/>
          </a:xfrm>
          <a:prstGeom prst="rect">
            <a:avLst/>
          </a:prstGeom>
        </p:spPr>
      </p:pic>
      <p:sp>
        <p:nvSpPr>
          <p:cNvPr id="55" name="Shape 39"/>
          <p:cNvSpPr/>
          <p:nvPr/>
        </p:nvSpPr>
        <p:spPr>
          <a:xfrm>
            <a:off x="10776204" y="4727448"/>
            <a:ext cx="420624" cy="420624"/>
          </a:xfrm>
          <a:prstGeom prst="ellipse">
            <a:avLst/>
          </a:prstGeom>
          <a:solidFill>
            <a:srgbClr val="F5EDD8"/>
          </a:solidFill>
          <a:ln w="9525">
            <a:solidFill>
              <a:srgbClr val="D4C9A0"/>
            </a:solidFill>
            <a:prstDash val="solid"/>
          </a:ln>
        </p:spPr>
      </p:sp>
      <p:pic>
        <p:nvPicPr>
          <p:cNvPr id="56" name="Image 14" descr="/home/claude/farmverse_v2/icons/tech_framer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68741" y="4819985"/>
            <a:ext cx="235549" cy="235549"/>
          </a:xfrm>
          <a:prstGeom prst="rect">
            <a:avLst/>
          </a:prstGeom>
        </p:spPr>
      </p:pic>
      <p:sp>
        <p:nvSpPr>
          <p:cNvPr id="57" name="Text 40"/>
          <p:cNvSpPr txBox="1"/>
          <p:nvPr/>
        </p:nvSpPr>
        <p:spPr>
          <a:xfrm>
            <a:off x="8995132" y="5440680"/>
            <a:ext cx="23134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OpenPDF · ZXing QR · Recharts · Framer Motion</a:t>
            </a:r>
            <a:endParaRPr lang="en-US" sz="1600" dirty="0"/>
          </a:p>
        </p:txBody>
      </p:sp>
      <p:sp>
        <p:nvSpPr>
          <p:cNvPr id="58" name="Text 41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 |  Infosys Springboard Internship</a:t>
            </a:r>
            <a:endParaRPr lang="en-US" sz="1100" dirty="0"/>
          </a:p>
        </p:txBody>
      </p:sp>
      <p:sp>
        <p:nvSpPr>
          <p:cNvPr id="59" name="Text 42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1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 &amp; Permissions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20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each scoped to exactly what they need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4A5D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2606040" cy="502920"/>
          </a:xfrm>
          <a:prstGeom prst="rect">
            <a:avLst/>
          </a:prstGeom>
          <a:solidFill>
            <a:srgbClr val="4A5D23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16586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8" name="Image 0" descr="/home/claude/farmverse_v2/icons/role_far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065" y="1320165"/>
            <a:ext cx="377190" cy="3771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560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8529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operational access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3364992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32918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Farms, Crops, Soil, Irrigation (+ IoT)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3959352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38862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scan, AI Advisory, Simulator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" y="4553712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4480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Mandi, Credit, Carbon, Equipment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5148072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50749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Bot, Crop Rescue, Reports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319272" y="14630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319272" y="1463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3D4D1C"/>
          </a:solidFill>
          <a:ln/>
        </p:spPr>
      </p:sp>
      <p:sp>
        <p:nvSpPr>
          <p:cNvPr id="21" name="Shape 18"/>
          <p:cNvSpPr/>
          <p:nvPr/>
        </p:nvSpPr>
        <p:spPr>
          <a:xfrm>
            <a:off x="3319272" y="2011680"/>
            <a:ext cx="2606040" cy="502920"/>
          </a:xfrm>
          <a:prstGeom prst="rect">
            <a:avLst/>
          </a:prstGeom>
          <a:solidFill>
            <a:srgbClr val="3D4D1C"/>
          </a:solidFill>
          <a:ln/>
        </p:spPr>
      </p:sp>
      <p:sp>
        <p:nvSpPr>
          <p:cNvPr id="22" name="Shape 19"/>
          <p:cNvSpPr/>
          <p:nvPr/>
        </p:nvSpPr>
        <p:spPr>
          <a:xfrm>
            <a:off x="4279392" y="116586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23" name="Image 1" descr="/home/claude/farmverse_v2/icons/role_agronom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697" y="1320165"/>
            <a:ext cx="377190" cy="37719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3319272" y="2560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Agronomist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3319272" y="28529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advisory powers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3502152" y="3364992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3685032" y="32918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Farmer sees, across all farms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3502152" y="3959352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3685032" y="38862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 disease treatment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3502152" y="4553712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3685032" y="4480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credit scores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3502152" y="5148072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3685032" y="50749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 / recall produce batches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089904" y="14630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089904" y="1463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D4A017"/>
          </a:solidFill>
          <a:ln/>
        </p:spPr>
      </p:sp>
      <p:sp>
        <p:nvSpPr>
          <p:cNvPr id="36" name="Shape 32"/>
          <p:cNvSpPr/>
          <p:nvPr/>
        </p:nvSpPr>
        <p:spPr>
          <a:xfrm>
            <a:off x="6089904" y="2011680"/>
            <a:ext cx="2606040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7" name="Shape 33"/>
          <p:cNvSpPr/>
          <p:nvPr/>
        </p:nvSpPr>
        <p:spPr>
          <a:xfrm>
            <a:off x="7050024" y="116586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38" name="Image 2" descr="/home/claude/farmverse_v2/icons/role_ad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4329" y="1320165"/>
            <a:ext cx="377190" cy="37719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6089904" y="2560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40" name="Text 35"/>
          <p:cNvSpPr txBox="1"/>
          <p:nvPr/>
        </p:nvSpPr>
        <p:spPr>
          <a:xfrm>
            <a:off x="6089904" y="28529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governance</a:t>
            </a:r>
            <a:endParaRPr lang="en-US" sz="1400" dirty="0"/>
          </a:p>
        </p:txBody>
      </p:sp>
      <p:sp>
        <p:nvSpPr>
          <p:cNvPr id="41" name="Shape 36"/>
          <p:cNvSpPr/>
          <p:nvPr/>
        </p:nvSpPr>
        <p:spPr>
          <a:xfrm>
            <a:off x="6272784" y="3364992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6455664" y="32918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Agronomist has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6272784" y="3959352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6455664" y="38862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/ edit any user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6272784" y="4553712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6455664" y="4480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roles, suspend accounts</a:t>
            </a: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6272784" y="5148072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6455664" y="50749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statistics</a:t>
            </a:r>
            <a:endParaRPr lang="en-US" sz="1200" dirty="0"/>
          </a:p>
        </p:txBody>
      </p:sp>
      <p:sp>
        <p:nvSpPr>
          <p:cNvPr id="49" name="Shape 44"/>
          <p:cNvSpPr/>
          <p:nvPr/>
        </p:nvSpPr>
        <p:spPr>
          <a:xfrm>
            <a:off x="8860536" y="14630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0" name="Shape 45"/>
          <p:cNvSpPr/>
          <p:nvPr/>
        </p:nvSpPr>
        <p:spPr>
          <a:xfrm>
            <a:off x="8860536" y="1463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4A5D23"/>
          </a:solidFill>
          <a:ln/>
        </p:spPr>
      </p:sp>
      <p:sp>
        <p:nvSpPr>
          <p:cNvPr id="51" name="Shape 46"/>
          <p:cNvSpPr/>
          <p:nvPr/>
        </p:nvSpPr>
        <p:spPr>
          <a:xfrm>
            <a:off x="8860536" y="2011680"/>
            <a:ext cx="2606040" cy="502920"/>
          </a:xfrm>
          <a:prstGeom prst="rect">
            <a:avLst/>
          </a:prstGeom>
          <a:solidFill>
            <a:srgbClr val="4A5D23"/>
          </a:solidFill>
          <a:ln/>
        </p:spPr>
      </p:sp>
      <p:sp>
        <p:nvSpPr>
          <p:cNvPr id="52" name="Shape 47"/>
          <p:cNvSpPr/>
          <p:nvPr/>
        </p:nvSpPr>
        <p:spPr>
          <a:xfrm>
            <a:off x="9820656" y="116586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53" name="Image 3" descr="/home/claude/farmverse_v2/icons/role_norm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4961" y="1320165"/>
            <a:ext cx="377190" cy="377190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8860536" y="2560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User</a:t>
            </a:r>
            <a:endParaRPr lang="en-US" sz="1600" dirty="0"/>
          </a:p>
        </p:txBody>
      </p:sp>
      <p:sp>
        <p:nvSpPr>
          <p:cNvPr id="55" name="Text 49"/>
          <p:cNvSpPr txBox="1"/>
          <p:nvPr/>
        </p:nvSpPr>
        <p:spPr>
          <a:xfrm>
            <a:off x="8860536" y="28529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consumer access</a:t>
            </a:r>
            <a:endParaRPr lang="en-US" sz="1400" dirty="0"/>
          </a:p>
        </p:txBody>
      </p:sp>
      <p:sp>
        <p:nvSpPr>
          <p:cNvPr id="56" name="Shape 50"/>
          <p:cNvSpPr/>
          <p:nvPr/>
        </p:nvSpPr>
        <p:spPr>
          <a:xfrm>
            <a:off x="9043416" y="3364992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7" name="Text 51"/>
          <p:cNvSpPr txBox="1"/>
          <p:nvPr/>
        </p:nvSpPr>
        <p:spPr>
          <a:xfrm>
            <a:off x="9226296" y="32918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Satellite, Mandi, Traceability</a:t>
            </a:r>
            <a:endParaRPr lang="en-US" sz="1200" dirty="0"/>
          </a:p>
        </p:txBody>
      </p:sp>
      <p:sp>
        <p:nvSpPr>
          <p:cNvPr id="58" name="Shape 52"/>
          <p:cNvSpPr/>
          <p:nvPr/>
        </p:nvSpPr>
        <p:spPr>
          <a:xfrm>
            <a:off x="9043416" y="3959352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9" name="Text 53"/>
          <p:cNvSpPr txBox="1"/>
          <p:nvPr/>
        </p:nvSpPr>
        <p:spPr>
          <a:xfrm>
            <a:off x="9226296" y="38862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info, Simulator, Carbon Tracker</a:t>
            </a:r>
            <a:endParaRPr lang="en-US" sz="1200" dirty="0"/>
          </a:p>
        </p:txBody>
      </p:sp>
      <p:sp>
        <p:nvSpPr>
          <p:cNvPr id="60" name="Shape 54"/>
          <p:cNvSpPr/>
          <p:nvPr/>
        </p:nvSpPr>
        <p:spPr>
          <a:xfrm>
            <a:off x="9043416" y="4553712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1" name="Text 55"/>
          <p:cNvSpPr txBox="1"/>
          <p:nvPr/>
        </p:nvSpPr>
        <p:spPr>
          <a:xfrm>
            <a:off x="9226296" y="4480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Rental, Voice Bot</a:t>
            </a:r>
            <a:endParaRPr lang="en-US" sz="1200" dirty="0"/>
          </a:p>
        </p:txBody>
      </p:sp>
      <p:sp>
        <p:nvSpPr>
          <p:cNvPr id="62" name="Shape 56"/>
          <p:cNvSpPr/>
          <p:nvPr/>
        </p:nvSpPr>
        <p:spPr>
          <a:xfrm>
            <a:off x="9043416" y="5148072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3" name="Text 57"/>
          <p:cNvSpPr txBox="1"/>
          <p:nvPr/>
        </p:nvSpPr>
        <p:spPr>
          <a:xfrm>
            <a:off x="9226296" y="50749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Advisory, Crop Rescue</a:t>
            </a:r>
            <a:endParaRPr lang="en-US" sz="1200" dirty="0"/>
          </a:p>
        </p:txBody>
      </p:sp>
      <p:sp>
        <p:nvSpPr>
          <p:cNvPr id="64" name="Text 58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 |  Infosys Springboard Internship</a:t>
            </a:r>
            <a:endParaRPr lang="en-US" sz="1100" dirty="0"/>
          </a:p>
        </p:txBody>
      </p:sp>
      <p:sp>
        <p:nvSpPr>
          <p:cNvPr id="65" name="Text 59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1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Architecture 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farm operations &amp; on-field intelligence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636776"/>
            <a:ext cx="566928" cy="566928"/>
          </a:xfrm>
          <a:prstGeom prst="ellipse">
            <a:avLst/>
          </a:prstGeom>
          <a:solidFill>
            <a:srgbClr val="4A5D23"/>
          </a:solidFill>
          <a:ln/>
        </p:spPr>
      </p:sp>
      <p:pic>
        <p:nvPicPr>
          <p:cNvPr id="6" name="Image 0" descr="/home/claude/farmverse_v2/icons/mod_a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39" y="1772839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07241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25556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login &amp; role-based access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19272" y="1463040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3008" y="1636776"/>
            <a:ext cx="566928" cy="566928"/>
          </a:xfrm>
          <a:prstGeom prst="ellipse">
            <a:avLst/>
          </a:prstGeom>
          <a:solidFill>
            <a:srgbClr val="3D4D1C"/>
          </a:solidFill>
          <a:ln/>
        </p:spPr>
      </p:sp>
      <p:pic>
        <p:nvPicPr>
          <p:cNvPr id="11" name="Image 1" descr="/home/claude/farmverse_v2/icons/mod_far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071" y="177283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02152" y="218541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Management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93008" y="2429457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farmer profiles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89904" y="1463040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636776"/>
            <a:ext cx="566928" cy="566928"/>
          </a:xfrm>
          <a:prstGeom prst="ellipse">
            <a:avLst/>
          </a:prstGeom>
          <a:solidFill>
            <a:srgbClr val="4A5D23"/>
          </a:solidFill>
          <a:ln/>
        </p:spPr>
      </p:sp>
      <p:pic>
        <p:nvPicPr>
          <p:cNvPr id="16" name="Image 2" descr="/home/claude/farmverse_v2/icons/mod_fa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9703" y="177283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72784" y="220965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Management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72784" y="246909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farm &amp; land records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860536" y="1463040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34272" y="1636776"/>
            <a:ext cx="566928" cy="566928"/>
          </a:xfrm>
          <a:prstGeom prst="ellipse">
            <a:avLst/>
          </a:prstGeom>
          <a:solidFill>
            <a:srgbClr val="3D4D1C"/>
          </a:solidFill>
          <a:ln/>
        </p:spPr>
      </p:sp>
      <p:pic>
        <p:nvPicPr>
          <p:cNvPr id="21" name="Image 3" descr="/home/claude/farmverse_v2/icons/mod_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0335" y="1772839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98280" y="2191023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Management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009888" y="2468535"/>
            <a:ext cx="2417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crop cycles &amp; varieties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3127248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22376" y="3300984"/>
            <a:ext cx="566928" cy="566928"/>
          </a:xfrm>
          <a:prstGeom prst="ellipse">
            <a:avLst/>
          </a:prstGeom>
          <a:solidFill>
            <a:srgbClr val="4A5D23"/>
          </a:solidFill>
          <a:ln/>
        </p:spPr>
      </p:sp>
      <p:pic>
        <p:nvPicPr>
          <p:cNvPr id="26" name="Image 4" descr="/home/claude/farmverse_v2/icons/mod_so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439" y="3437047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2376" y="38907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Analysis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22376" y="4157889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soil health parameters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3319272" y="3127248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493008" y="3300984"/>
            <a:ext cx="566928" cy="566928"/>
          </a:xfrm>
          <a:prstGeom prst="ellipse">
            <a:avLst/>
          </a:prstGeom>
          <a:solidFill>
            <a:srgbClr val="3D4D1C"/>
          </a:solidFill>
          <a:ln/>
        </p:spPr>
      </p:sp>
      <p:pic>
        <p:nvPicPr>
          <p:cNvPr id="31" name="Image 5" descr="/home/claude/farmverse_v2/icons/mod_irriga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9071" y="3437047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02152" y="39044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+ IoT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3346704" y="4166170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+ real device telemetry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6089904" y="3127248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263640" y="3300984"/>
            <a:ext cx="566928" cy="566928"/>
          </a:xfrm>
          <a:prstGeom prst="ellipse">
            <a:avLst/>
          </a:prstGeom>
          <a:solidFill>
            <a:srgbClr val="4A5D23"/>
          </a:solidFill>
          <a:ln/>
        </p:spPr>
      </p:sp>
      <p:pic>
        <p:nvPicPr>
          <p:cNvPr id="36" name="Image 6" descr="/home/claude/farmverse_v2/icons/mod_weath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9703" y="3437047"/>
            <a:ext cx="294803" cy="29480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272784" y="39044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6263640" y="4157544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forecasts via Open-Meteo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8860536" y="3127248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034272" y="3300984"/>
            <a:ext cx="566928" cy="566928"/>
          </a:xfrm>
          <a:prstGeom prst="ellipse">
            <a:avLst/>
          </a:prstGeom>
          <a:solidFill>
            <a:srgbClr val="3D4D1C"/>
          </a:solidFill>
          <a:ln/>
        </p:spPr>
      </p:sp>
      <p:pic>
        <p:nvPicPr>
          <p:cNvPr id="41" name="Image 7" descr="/home/claude/farmverse_v2/icons/mod_satell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0335" y="3437047"/>
            <a:ext cx="294803" cy="294803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043416" y="38907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NDVI</a:t>
            </a:r>
            <a:endParaRPr lang="en-US" sz="1600" dirty="0"/>
          </a:p>
        </p:txBody>
      </p:sp>
      <p:sp>
        <p:nvSpPr>
          <p:cNvPr id="43" name="Text 33"/>
          <p:cNvSpPr txBox="1"/>
          <p:nvPr/>
        </p:nvSpPr>
        <p:spPr>
          <a:xfrm>
            <a:off x="9034272" y="416617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health per farm</a:t>
            </a:r>
            <a:endParaRPr lang="en-US" sz="1400" dirty="0"/>
          </a:p>
        </p:txBody>
      </p:sp>
      <p:sp>
        <p:nvSpPr>
          <p:cNvPr id="44" name="Shape 34"/>
          <p:cNvSpPr/>
          <p:nvPr/>
        </p:nvSpPr>
        <p:spPr>
          <a:xfrm>
            <a:off x="548640" y="4791456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722376" y="4965192"/>
            <a:ext cx="566928" cy="566928"/>
          </a:xfrm>
          <a:prstGeom prst="ellipse">
            <a:avLst/>
          </a:prstGeom>
          <a:solidFill>
            <a:srgbClr val="4A5D23"/>
          </a:solidFill>
          <a:ln/>
        </p:spPr>
      </p:sp>
      <p:pic>
        <p:nvPicPr>
          <p:cNvPr id="46" name="Image 8" descr="/home/claude/farmverse_v2/icons/mod_diseas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439" y="5101255"/>
            <a:ext cx="294803" cy="294803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22376" y="554583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</a:t>
            </a:r>
            <a:endParaRPr lang="en-US" sz="1600" dirty="0"/>
          </a:p>
        </p:txBody>
      </p:sp>
      <p:sp>
        <p:nvSpPr>
          <p:cNvPr id="48" name="Text 37"/>
          <p:cNvSpPr txBox="1"/>
          <p:nvPr/>
        </p:nvSpPr>
        <p:spPr>
          <a:xfrm>
            <a:off x="653796" y="5814031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Vision-based crop scan</a:t>
            </a:r>
            <a:endParaRPr lang="en-US" sz="1400" dirty="0"/>
          </a:p>
        </p:txBody>
      </p:sp>
      <p:sp>
        <p:nvSpPr>
          <p:cNvPr id="49" name="Shape 38"/>
          <p:cNvSpPr/>
          <p:nvPr/>
        </p:nvSpPr>
        <p:spPr>
          <a:xfrm>
            <a:off x="3319272" y="4791456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3493008" y="4965192"/>
            <a:ext cx="566928" cy="566928"/>
          </a:xfrm>
          <a:prstGeom prst="ellipse">
            <a:avLst/>
          </a:prstGeom>
          <a:solidFill>
            <a:srgbClr val="3D4D1C"/>
          </a:solidFill>
          <a:ln/>
        </p:spPr>
      </p:sp>
      <p:pic>
        <p:nvPicPr>
          <p:cNvPr id="51" name="Image 9" descr="/home/claude/farmverse_v2/icons/mod_a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29071" y="5101255"/>
            <a:ext cx="294803" cy="294803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3502152" y="55549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Advisory</a:t>
            </a:r>
            <a:endParaRPr lang="en-US" sz="1600" dirty="0"/>
          </a:p>
        </p:txBody>
      </p:sp>
      <p:sp>
        <p:nvSpPr>
          <p:cNvPr id="53" name="Text 41"/>
          <p:cNvSpPr txBox="1"/>
          <p:nvPr/>
        </p:nvSpPr>
        <p:spPr>
          <a:xfrm>
            <a:off x="3407089" y="5814031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chat &amp; tips</a:t>
            </a:r>
            <a:endParaRPr lang="en-US" sz="1400" dirty="0"/>
          </a:p>
        </p:txBody>
      </p:sp>
      <p:sp>
        <p:nvSpPr>
          <p:cNvPr id="54" name="Shape 42"/>
          <p:cNvSpPr/>
          <p:nvPr/>
        </p:nvSpPr>
        <p:spPr>
          <a:xfrm>
            <a:off x="6089904" y="4791456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5" name="Shape 43"/>
          <p:cNvSpPr/>
          <p:nvPr/>
        </p:nvSpPr>
        <p:spPr>
          <a:xfrm>
            <a:off x="6263640" y="4965192"/>
            <a:ext cx="566928" cy="566928"/>
          </a:xfrm>
          <a:prstGeom prst="ellipse">
            <a:avLst/>
          </a:prstGeom>
          <a:solidFill>
            <a:srgbClr val="4A5D23"/>
          </a:solidFill>
          <a:ln/>
        </p:spPr>
      </p:sp>
      <p:pic>
        <p:nvPicPr>
          <p:cNvPr id="56" name="Image 10" descr="/home/claude/farmverse_v2/icons/mod_simulato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9703" y="5101255"/>
            <a:ext cx="294803" cy="294803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6272784" y="5568351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Simulator</a:t>
            </a:r>
            <a:endParaRPr lang="en-US" sz="1600" dirty="0"/>
          </a:p>
        </p:txBody>
      </p:sp>
      <p:sp>
        <p:nvSpPr>
          <p:cNvPr id="58" name="Text 45"/>
          <p:cNvSpPr txBox="1"/>
          <p:nvPr/>
        </p:nvSpPr>
        <p:spPr>
          <a:xfrm>
            <a:off x="6263640" y="5814031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yield calculator</a:t>
            </a:r>
            <a:endParaRPr lang="en-US" sz="1400" dirty="0"/>
          </a:p>
        </p:txBody>
      </p:sp>
      <p:sp>
        <p:nvSpPr>
          <p:cNvPr id="59" name="Text 4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 |  Infosys Springboard Internship</a:t>
            </a:r>
            <a:endParaRPr lang="en-US" sz="1100" dirty="0"/>
          </a:p>
        </p:txBody>
      </p:sp>
      <p:sp>
        <p:nvSpPr>
          <p:cNvPr id="60" name="Text 47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1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Architecture II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Marketplace, sustainability, support &amp; governance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636776"/>
            <a:ext cx="566928" cy="566928"/>
          </a:xfrm>
          <a:prstGeom prst="ellipse">
            <a:avLst/>
          </a:prstGeom>
          <a:solidFill>
            <a:srgbClr val="4A5D23"/>
          </a:solidFill>
          <a:ln/>
        </p:spPr>
      </p:sp>
      <p:pic>
        <p:nvPicPr>
          <p:cNvPr id="6" name="Image 0" descr="/home/claude/farmverse_v2/icons/mod_v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39" y="1772839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174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10891"/>
            <a:ext cx="23394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 Kisan Vani Q&amp;A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19272" y="1463040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3008" y="1636776"/>
            <a:ext cx="566928" cy="566928"/>
          </a:xfrm>
          <a:prstGeom prst="ellipse">
            <a:avLst/>
          </a:prstGeom>
          <a:solidFill>
            <a:srgbClr val="3D4D1C"/>
          </a:solidFill>
          <a:ln/>
        </p:spPr>
      </p:sp>
      <p:pic>
        <p:nvPicPr>
          <p:cNvPr id="11" name="Image 1" descr="/home/claude/farmverse_v2/icons/mod_mand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071" y="177283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02152" y="2208825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Prices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04156" y="2544852"/>
            <a:ext cx="26857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e-NAM prices + arbitrage calculator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89904" y="1463040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636776"/>
            <a:ext cx="566928" cy="566928"/>
          </a:xfrm>
          <a:prstGeom prst="ellipse">
            <a:avLst/>
          </a:prstGeom>
          <a:solidFill>
            <a:srgbClr val="4A5D23"/>
          </a:solidFill>
          <a:ln/>
        </p:spPr>
      </p:sp>
      <p:pic>
        <p:nvPicPr>
          <p:cNvPr id="16" name="Image 2" descr="/home/claude/farmverse_v2/icons/mod_cre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9703" y="177283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72784" y="22174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72784" y="254485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agri-credit &amp; micro-loans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860536" y="1463040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34272" y="1636776"/>
            <a:ext cx="566928" cy="566928"/>
          </a:xfrm>
          <a:prstGeom prst="ellipse">
            <a:avLst/>
          </a:prstGeom>
          <a:solidFill>
            <a:srgbClr val="3D4D1C"/>
          </a:solidFill>
          <a:ln/>
        </p:spPr>
      </p:sp>
      <p:pic>
        <p:nvPicPr>
          <p:cNvPr id="21" name="Image 3" descr="/home/claude/farmverse_v2/icons/mod_carb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0335" y="1772839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43416" y="22174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043416" y="25374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audits + green credit market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3127248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22376" y="3300984"/>
            <a:ext cx="566928" cy="566928"/>
          </a:xfrm>
          <a:prstGeom prst="ellipse">
            <a:avLst/>
          </a:prstGeom>
          <a:solidFill>
            <a:srgbClr val="4A5D23"/>
          </a:solidFill>
          <a:ln/>
        </p:spPr>
      </p:sp>
      <p:pic>
        <p:nvPicPr>
          <p:cNvPr id="26" name="Image 4" descr="/home/claude/farmverse_v2/icons/mod_equipm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439" y="3437047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2376" y="39044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Rental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22376" y="41833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machinery marketplace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3319272" y="3127248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493008" y="3300984"/>
            <a:ext cx="566928" cy="566928"/>
          </a:xfrm>
          <a:prstGeom prst="ellipse">
            <a:avLst/>
          </a:prstGeom>
          <a:solidFill>
            <a:srgbClr val="3D4D1C"/>
          </a:solidFill>
          <a:ln/>
        </p:spPr>
      </p:sp>
      <p:pic>
        <p:nvPicPr>
          <p:cNvPr id="31" name="Image 5" descr="/home/claude/farmverse_v2/icons/mod_resc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9071" y="3437047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02152" y="38907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Rescue (SOS)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3337560" y="4198163"/>
            <a:ext cx="2587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agronomic protocols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6089904" y="3127248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263640" y="3300984"/>
            <a:ext cx="566928" cy="566928"/>
          </a:xfrm>
          <a:prstGeom prst="ellipse">
            <a:avLst/>
          </a:prstGeom>
          <a:solidFill>
            <a:srgbClr val="4A5D23"/>
          </a:solidFill>
          <a:ln/>
        </p:spPr>
      </p:sp>
      <p:pic>
        <p:nvPicPr>
          <p:cNvPr id="36" name="Image 6" descr="/home/claude/farmverse_v2/icons/mod_tra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9703" y="3437047"/>
            <a:ext cx="294803" cy="29480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272784" y="38907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6116818" y="4210467"/>
            <a:ext cx="2587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QR-coded farm-to-fork tracking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8860536" y="3127248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034272" y="3300984"/>
            <a:ext cx="566928" cy="566928"/>
          </a:xfrm>
          <a:prstGeom prst="ellipse">
            <a:avLst/>
          </a:prstGeom>
          <a:solidFill>
            <a:srgbClr val="3D4D1C"/>
          </a:solidFill>
          <a:ln/>
        </p:spPr>
      </p:sp>
      <p:pic>
        <p:nvPicPr>
          <p:cNvPr id="41" name="Image 7" descr="/home/claude/farmverse_v2/icons/mod_notif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0335" y="3437047"/>
            <a:ext cx="294803" cy="294803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043416" y="3899743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43" name="Text 33"/>
          <p:cNvSpPr txBox="1"/>
          <p:nvPr/>
        </p:nvSpPr>
        <p:spPr>
          <a:xfrm>
            <a:off x="9043416" y="4192869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farmer alerts</a:t>
            </a:r>
            <a:endParaRPr lang="en-US" sz="1400" dirty="0"/>
          </a:p>
        </p:txBody>
      </p:sp>
      <p:sp>
        <p:nvSpPr>
          <p:cNvPr id="44" name="Shape 34"/>
          <p:cNvSpPr/>
          <p:nvPr/>
        </p:nvSpPr>
        <p:spPr>
          <a:xfrm>
            <a:off x="548640" y="4791456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722376" y="4965192"/>
            <a:ext cx="566928" cy="566928"/>
          </a:xfrm>
          <a:prstGeom prst="ellipse">
            <a:avLst/>
          </a:prstGeom>
          <a:solidFill>
            <a:srgbClr val="4A5D23"/>
          </a:solidFill>
          <a:ln/>
        </p:spPr>
      </p:sp>
      <p:pic>
        <p:nvPicPr>
          <p:cNvPr id="46" name="Image 8" descr="/home/claude/farmverse_v2/icons/mod_repor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439" y="5101255"/>
            <a:ext cx="294803" cy="294803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31520" y="5574157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600" dirty="0"/>
          </a:p>
        </p:txBody>
      </p:sp>
      <p:sp>
        <p:nvSpPr>
          <p:cNvPr id="48" name="Text 37"/>
          <p:cNvSpPr txBox="1"/>
          <p:nvPr/>
        </p:nvSpPr>
        <p:spPr>
          <a:xfrm>
            <a:off x="731520" y="5897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PDF farm reports</a:t>
            </a:r>
            <a:endParaRPr lang="en-US" sz="1400" dirty="0"/>
          </a:p>
        </p:txBody>
      </p:sp>
      <p:sp>
        <p:nvSpPr>
          <p:cNvPr id="49" name="Shape 38"/>
          <p:cNvSpPr/>
          <p:nvPr/>
        </p:nvSpPr>
        <p:spPr>
          <a:xfrm>
            <a:off x="3319272" y="4791456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3493008" y="4965192"/>
            <a:ext cx="566928" cy="566928"/>
          </a:xfrm>
          <a:prstGeom prst="ellipse">
            <a:avLst/>
          </a:prstGeom>
          <a:solidFill>
            <a:srgbClr val="3D4D1C"/>
          </a:solidFill>
          <a:ln/>
        </p:spPr>
      </p:sp>
      <p:pic>
        <p:nvPicPr>
          <p:cNvPr id="51" name="Image 9" descr="/home/claude/farmverse_v2/icons/mod_admi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29071" y="5101255"/>
            <a:ext cx="294803" cy="294803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3502152" y="55549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Governance</a:t>
            </a:r>
            <a:endParaRPr lang="en-US" sz="1600" dirty="0"/>
          </a:p>
        </p:txBody>
      </p:sp>
      <p:sp>
        <p:nvSpPr>
          <p:cNvPr id="53" name="Text 41"/>
          <p:cNvSpPr txBox="1"/>
          <p:nvPr/>
        </p:nvSpPr>
        <p:spPr>
          <a:xfrm>
            <a:off x="3502152" y="5897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&amp; platform stats</a:t>
            </a:r>
            <a:endParaRPr lang="en-US" sz="1400" dirty="0"/>
          </a:p>
        </p:txBody>
      </p:sp>
      <p:sp>
        <p:nvSpPr>
          <p:cNvPr id="54" name="Shape 42"/>
          <p:cNvSpPr/>
          <p:nvPr/>
        </p:nvSpPr>
        <p:spPr>
          <a:xfrm>
            <a:off x="6089904" y="4791456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5" name="Shape 43"/>
          <p:cNvSpPr/>
          <p:nvPr/>
        </p:nvSpPr>
        <p:spPr>
          <a:xfrm>
            <a:off x="6263640" y="4965192"/>
            <a:ext cx="566928" cy="566928"/>
          </a:xfrm>
          <a:prstGeom prst="ellipse">
            <a:avLst/>
          </a:prstGeom>
          <a:solidFill>
            <a:srgbClr val="4A5D23"/>
          </a:solidFill>
          <a:ln/>
        </p:spPr>
      </p:sp>
      <p:pic>
        <p:nvPicPr>
          <p:cNvPr id="56" name="Image 10" descr="/home/claude/farmverse_v2/icons/mod_setting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9703" y="5101255"/>
            <a:ext cx="294803" cy="294803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6272784" y="56052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600" dirty="0"/>
          </a:p>
        </p:txBody>
      </p:sp>
      <p:sp>
        <p:nvSpPr>
          <p:cNvPr id="58" name="Text 45"/>
          <p:cNvSpPr txBox="1"/>
          <p:nvPr/>
        </p:nvSpPr>
        <p:spPr>
          <a:xfrm>
            <a:off x="6272784" y="5883301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preferences</a:t>
            </a:r>
            <a:endParaRPr lang="en-US" sz="1400" dirty="0"/>
          </a:p>
        </p:txBody>
      </p:sp>
      <p:sp>
        <p:nvSpPr>
          <p:cNvPr id="59" name="Text 4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 |  Infosys Springboard Internship</a:t>
            </a:r>
            <a:endParaRPr lang="en-US" sz="1100" dirty="0"/>
          </a:p>
        </p:txBody>
      </p:sp>
      <p:sp>
        <p:nvSpPr>
          <p:cNvPr id="60" name="Text 47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rmverse_v2/bg/bg_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26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1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entities grouped into five functional domains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15190A">
              <a:alpha val="9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394460" y="1298448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7" name="Image 1" descr="/home/claude/farmverse_v2/icons/er_ident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330" y="1401318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188944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24231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58368" y="2423160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295351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58368" y="2953512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483864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58368" y="3483864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UserSettings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825496" y="150876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15190A">
              <a:alpha val="95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3671316" y="1298448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7" name="Image 2" descr="/home/claude/farmverse_v2/icons/er_farmc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4186" y="1401318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825496" y="18745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Core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2825496" y="24231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2935224" y="2423160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2825496" y="295351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2935224" y="2953512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2825496" y="3483864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2935224" y="3483864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SoilData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2825496" y="4014216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2935224" y="4014216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IrrigationSchedule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2825496" y="45445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28" name="Text 23"/>
          <p:cNvSpPr txBox="1"/>
          <p:nvPr/>
        </p:nvSpPr>
        <p:spPr>
          <a:xfrm>
            <a:off x="2935224" y="4544568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IoTDevice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5102352" y="150876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15190A">
              <a:alpha val="95000"/>
            </a:srgbClr>
          </a:solidFill>
          <a:ln/>
        </p:spPr>
      </p:sp>
      <p:sp>
        <p:nvSpPr>
          <p:cNvPr id="30" name="Shape 25"/>
          <p:cNvSpPr/>
          <p:nvPr/>
        </p:nvSpPr>
        <p:spPr>
          <a:xfrm>
            <a:off x="5948172" y="1298448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31" name="Image 3" descr="/home/claude/farmverse_v2/icons/er_heal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1042" y="1401318"/>
            <a:ext cx="251460" cy="25146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102352" y="1882586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AI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5102352" y="24231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34" name="Text 28"/>
          <p:cNvSpPr txBox="1"/>
          <p:nvPr/>
        </p:nvSpPr>
        <p:spPr>
          <a:xfrm>
            <a:off x="5212080" y="2423160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DiseaseDetection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5102352" y="295351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36" name="Text 30"/>
          <p:cNvSpPr txBox="1"/>
          <p:nvPr/>
        </p:nvSpPr>
        <p:spPr>
          <a:xfrm>
            <a:off x="5212080" y="2953512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DiseaseTreatmentLog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5102352" y="3483864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38" name="Text 32"/>
          <p:cNvSpPr txBox="1"/>
          <p:nvPr/>
        </p:nvSpPr>
        <p:spPr>
          <a:xfrm>
            <a:off x="5212080" y="3483864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CropRecommendation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5102352" y="4014216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40" name="Text 34"/>
          <p:cNvSpPr txBox="1"/>
          <p:nvPr/>
        </p:nvSpPr>
        <p:spPr>
          <a:xfrm>
            <a:off x="5212080" y="4014216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CropSimulation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5102352" y="45445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42" name="Text 36"/>
          <p:cNvSpPr txBox="1"/>
          <p:nvPr/>
        </p:nvSpPr>
        <p:spPr>
          <a:xfrm>
            <a:off x="5212080" y="4544568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SatelliteNdvi</a:t>
            </a:r>
            <a:endParaRPr lang="en-US" sz="1400" dirty="0"/>
          </a:p>
        </p:txBody>
      </p:sp>
      <p:sp>
        <p:nvSpPr>
          <p:cNvPr id="43" name="Shape 37"/>
          <p:cNvSpPr/>
          <p:nvPr/>
        </p:nvSpPr>
        <p:spPr>
          <a:xfrm>
            <a:off x="7379208" y="150876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15190A">
              <a:alpha val="95000"/>
            </a:srgbClr>
          </a:solidFill>
          <a:ln/>
        </p:spPr>
      </p:sp>
      <p:sp>
        <p:nvSpPr>
          <p:cNvPr id="44" name="Shape 38"/>
          <p:cNvSpPr/>
          <p:nvPr/>
        </p:nvSpPr>
        <p:spPr>
          <a:xfrm>
            <a:off x="8225028" y="1298448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45" name="Image 4" descr="/home/claude/farmverse_v2/icons/er_fin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7898" y="1401318"/>
            <a:ext cx="251460" cy="251460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7379208" y="1862529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Finance</a:t>
            </a:r>
            <a:endParaRPr lang="en-US" sz="1600" dirty="0"/>
          </a:p>
        </p:txBody>
      </p:sp>
      <p:sp>
        <p:nvSpPr>
          <p:cNvPr id="47" name="Shape 40"/>
          <p:cNvSpPr/>
          <p:nvPr/>
        </p:nvSpPr>
        <p:spPr>
          <a:xfrm>
            <a:off x="7379208" y="24231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48" name="Text 41"/>
          <p:cNvSpPr txBox="1"/>
          <p:nvPr/>
        </p:nvSpPr>
        <p:spPr>
          <a:xfrm>
            <a:off x="7488936" y="2423160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MandiPrice</a:t>
            </a:r>
            <a:endParaRPr lang="en-US" sz="1400" dirty="0"/>
          </a:p>
        </p:txBody>
      </p:sp>
      <p:sp>
        <p:nvSpPr>
          <p:cNvPr id="49" name="Shape 42"/>
          <p:cNvSpPr/>
          <p:nvPr/>
        </p:nvSpPr>
        <p:spPr>
          <a:xfrm>
            <a:off x="7379208" y="295351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0" name="Text 43"/>
          <p:cNvSpPr txBox="1"/>
          <p:nvPr/>
        </p:nvSpPr>
        <p:spPr>
          <a:xfrm>
            <a:off x="7488936" y="2953512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CreditScore</a:t>
            </a:r>
            <a:endParaRPr lang="en-US" sz="1400" dirty="0"/>
          </a:p>
        </p:txBody>
      </p:sp>
      <p:sp>
        <p:nvSpPr>
          <p:cNvPr id="51" name="Shape 44"/>
          <p:cNvSpPr/>
          <p:nvPr/>
        </p:nvSpPr>
        <p:spPr>
          <a:xfrm>
            <a:off x="7379208" y="3483864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2" name="Text 45"/>
          <p:cNvSpPr txBox="1"/>
          <p:nvPr/>
        </p:nvSpPr>
        <p:spPr>
          <a:xfrm>
            <a:off x="7488936" y="3483864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LoanApplication</a:t>
            </a:r>
            <a:endParaRPr lang="en-US" sz="1400" dirty="0"/>
          </a:p>
        </p:txBody>
      </p:sp>
      <p:sp>
        <p:nvSpPr>
          <p:cNvPr id="53" name="Shape 46"/>
          <p:cNvSpPr/>
          <p:nvPr/>
        </p:nvSpPr>
        <p:spPr>
          <a:xfrm>
            <a:off x="7379208" y="4014216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4" name="Text 47"/>
          <p:cNvSpPr txBox="1"/>
          <p:nvPr/>
        </p:nvSpPr>
        <p:spPr>
          <a:xfrm>
            <a:off x="7488936" y="4014216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CarbonFootprint</a:t>
            </a:r>
            <a:endParaRPr lang="en-US" sz="1400" dirty="0"/>
          </a:p>
        </p:txBody>
      </p:sp>
      <p:sp>
        <p:nvSpPr>
          <p:cNvPr id="55" name="Shape 48"/>
          <p:cNvSpPr/>
          <p:nvPr/>
        </p:nvSpPr>
        <p:spPr>
          <a:xfrm>
            <a:off x="7379208" y="45445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6" name="Text 49"/>
          <p:cNvSpPr txBox="1"/>
          <p:nvPr/>
        </p:nvSpPr>
        <p:spPr>
          <a:xfrm>
            <a:off x="7488936" y="4544568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CarbonCreditListing</a:t>
            </a:r>
            <a:endParaRPr lang="en-US" sz="1400" dirty="0"/>
          </a:p>
        </p:txBody>
      </p:sp>
      <p:sp>
        <p:nvSpPr>
          <p:cNvPr id="57" name="Shape 50"/>
          <p:cNvSpPr/>
          <p:nvPr/>
        </p:nvSpPr>
        <p:spPr>
          <a:xfrm>
            <a:off x="7379208" y="507492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8" name="Text 51"/>
          <p:cNvSpPr txBox="1"/>
          <p:nvPr/>
        </p:nvSpPr>
        <p:spPr>
          <a:xfrm>
            <a:off x="7488936" y="5074920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400" dirty="0"/>
          </a:p>
        </p:txBody>
      </p:sp>
      <p:sp>
        <p:nvSpPr>
          <p:cNvPr id="59" name="Shape 52"/>
          <p:cNvSpPr/>
          <p:nvPr/>
        </p:nvSpPr>
        <p:spPr>
          <a:xfrm>
            <a:off x="7379208" y="560527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60" name="Text 53"/>
          <p:cNvSpPr txBox="1"/>
          <p:nvPr/>
        </p:nvSpPr>
        <p:spPr>
          <a:xfrm>
            <a:off x="7488936" y="5605272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EquipmentBooking</a:t>
            </a:r>
            <a:endParaRPr lang="en-US" sz="1400" dirty="0"/>
          </a:p>
        </p:txBody>
      </p:sp>
      <p:sp>
        <p:nvSpPr>
          <p:cNvPr id="61" name="Shape 54"/>
          <p:cNvSpPr/>
          <p:nvPr/>
        </p:nvSpPr>
        <p:spPr>
          <a:xfrm>
            <a:off x="9656064" y="150876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15190A">
              <a:alpha val="95000"/>
            </a:srgbClr>
          </a:solidFill>
          <a:ln/>
        </p:spPr>
      </p:sp>
      <p:sp>
        <p:nvSpPr>
          <p:cNvPr id="62" name="Shape 55"/>
          <p:cNvSpPr/>
          <p:nvPr/>
        </p:nvSpPr>
        <p:spPr>
          <a:xfrm>
            <a:off x="10501884" y="1298448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63" name="Image 5" descr="/home/claude/farmverse_v2/icons/er_tru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4754" y="1401318"/>
            <a:ext cx="251460" cy="251460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9656064" y="188944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Support</a:t>
            </a:r>
            <a:endParaRPr lang="en-US" sz="1600" dirty="0"/>
          </a:p>
        </p:txBody>
      </p:sp>
      <p:sp>
        <p:nvSpPr>
          <p:cNvPr id="65" name="Shape 57"/>
          <p:cNvSpPr/>
          <p:nvPr/>
        </p:nvSpPr>
        <p:spPr>
          <a:xfrm>
            <a:off x="9656064" y="24231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66" name="Text 58"/>
          <p:cNvSpPr txBox="1"/>
          <p:nvPr/>
        </p:nvSpPr>
        <p:spPr>
          <a:xfrm>
            <a:off x="9765792" y="2423160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ProduceBatch</a:t>
            </a:r>
            <a:endParaRPr lang="en-US" sz="1400" dirty="0"/>
          </a:p>
        </p:txBody>
      </p:sp>
      <p:sp>
        <p:nvSpPr>
          <p:cNvPr id="67" name="Shape 59"/>
          <p:cNvSpPr/>
          <p:nvPr/>
        </p:nvSpPr>
        <p:spPr>
          <a:xfrm>
            <a:off x="9656064" y="295351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68" name="Text 60"/>
          <p:cNvSpPr txBox="1"/>
          <p:nvPr/>
        </p:nvSpPr>
        <p:spPr>
          <a:xfrm>
            <a:off x="9765792" y="2953512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ProduceReview</a:t>
            </a:r>
            <a:endParaRPr lang="en-US" sz="1400" dirty="0"/>
          </a:p>
        </p:txBody>
      </p:sp>
      <p:sp>
        <p:nvSpPr>
          <p:cNvPr id="69" name="Shape 61"/>
          <p:cNvSpPr/>
          <p:nvPr/>
        </p:nvSpPr>
        <p:spPr>
          <a:xfrm>
            <a:off x="9656064" y="3483864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70" name="Text 62"/>
          <p:cNvSpPr txBox="1"/>
          <p:nvPr/>
        </p:nvSpPr>
        <p:spPr>
          <a:xfrm>
            <a:off x="9765792" y="3483864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CropRescue</a:t>
            </a:r>
            <a:endParaRPr lang="en-US" sz="1400" dirty="0"/>
          </a:p>
        </p:txBody>
      </p:sp>
      <p:sp>
        <p:nvSpPr>
          <p:cNvPr id="71" name="Shape 63"/>
          <p:cNvSpPr/>
          <p:nvPr/>
        </p:nvSpPr>
        <p:spPr>
          <a:xfrm>
            <a:off x="9656064" y="4014216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72" name="Text 64"/>
          <p:cNvSpPr txBox="1"/>
          <p:nvPr/>
        </p:nvSpPr>
        <p:spPr>
          <a:xfrm>
            <a:off x="9765792" y="4014216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VoiceConsultation</a:t>
            </a:r>
            <a:endParaRPr lang="en-US" sz="1400" dirty="0"/>
          </a:p>
        </p:txBody>
      </p:sp>
      <p:sp>
        <p:nvSpPr>
          <p:cNvPr id="73" name="Shape 65"/>
          <p:cNvSpPr/>
          <p:nvPr/>
        </p:nvSpPr>
        <p:spPr>
          <a:xfrm>
            <a:off x="9656064" y="45445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74" name="Text 66"/>
          <p:cNvSpPr txBox="1"/>
          <p:nvPr/>
        </p:nvSpPr>
        <p:spPr>
          <a:xfrm>
            <a:off x="9765792" y="4544568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400" dirty="0"/>
          </a:p>
        </p:txBody>
      </p:sp>
      <p:sp>
        <p:nvSpPr>
          <p:cNvPr id="75" name="Shape 67"/>
          <p:cNvSpPr/>
          <p:nvPr/>
        </p:nvSpPr>
        <p:spPr>
          <a:xfrm>
            <a:off x="9656064" y="507492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76" name="Text 68"/>
          <p:cNvSpPr txBox="1"/>
          <p:nvPr/>
        </p:nvSpPr>
        <p:spPr>
          <a:xfrm>
            <a:off x="9765792" y="5074920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77" name="Text 69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 |  Infosys Springboard Internship</a:t>
            </a:r>
            <a:endParaRPr lang="en-US" sz="900" dirty="0"/>
          </a:p>
        </p:txBody>
      </p:sp>
      <p:sp>
        <p:nvSpPr>
          <p:cNvPr id="78" name="Text 70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journey, plus on-demand tools available anytime from the dashboard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623060" y="1591056"/>
            <a:ext cx="219456" cy="201168"/>
          </a:xfrm>
          <a:prstGeom prst="rightArrow">
            <a:avLst/>
          </a:prstGeom>
          <a:solidFill>
            <a:srgbClr val="D4C9A0"/>
          </a:solidFill>
          <a:ln/>
        </p:spPr>
      </p:sp>
      <p:sp>
        <p:nvSpPr>
          <p:cNvPr id="5" name="Shape 3"/>
          <p:cNvSpPr/>
          <p:nvPr/>
        </p:nvSpPr>
        <p:spPr>
          <a:xfrm>
            <a:off x="891540" y="1335024"/>
            <a:ext cx="713232" cy="713232"/>
          </a:xfrm>
          <a:prstGeom prst="ellipse">
            <a:avLst/>
          </a:prstGeom>
          <a:solidFill>
            <a:srgbClr val="4A5D23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6" name="Image 0" descr="/home/claude/farmverse_v2/icons/flow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513332"/>
            <a:ext cx="356616" cy="3566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21892" y="1243584"/>
            <a:ext cx="329184" cy="329184"/>
          </a:xfrm>
          <a:prstGeom prst="ellipse">
            <a:avLst/>
          </a:prstGeom>
          <a:solidFill>
            <a:srgbClr val="D4A01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21892" y="12435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45236" y="21214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92324" y="1591056"/>
            <a:ext cx="219456" cy="201168"/>
          </a:xfrm>
          <a:prstGeom prst="rightArrow">
            <a:avLst/>
          </a:prstGeom>
          <a:solidFill>
            <a:srgbClr val="D4C9A0"/>
          </a:solidFill>
          <a:ln/>
        </p:spPr>
      </p:sp>
      <p:sp>
        <p:nvSpPr>
          <p:cNvPr id="11" name="Shape 8"/>
          <p:cNvSpPr/>
          <p:nvPr/>
        </p:nvSpPr>
        <p:spPr>
          <a:xfrm>
            <a:off x="1860804" y="1335024"/>
            <a:ext cx="713232" cy="713232"/>
          </a:xfrm>
          <a:prstGeom prst="ellipse">
            <a:avLst/>
          </a:prstGeom>
          <a:solidFill>
            <a:srgbClr val="3D4D1C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12" name="Image 1" descr="/home/claude/farmverse_v2/icons/flow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112" y="1513332"/>
            <a:ext cx="356616" cy="35661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391156" y="1243584"/>
            <a:ext cx="329184" cy="329184"/>
          </a:xfrm>
          <a:prstGeom prst="ellipse">
            <a:avLst/>
          </a:prstGeom>
          <a:solidFill>
            <a:srgbClr val="D4A01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391156" y="12435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1714500" y="21214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561588" y="1591056"/>
            <a:ext cx="219456" cy="201168"/>
          </a:xfrm>
          <a:prstGeom prst="rightArrow">
            <a:avLst/>
          </a:prstGeom>
          <a:solidFill>
            <a:srgbClr val="D4C9A0"/>
          </a:solidFill>
          <a:ln/>
        </p:spPr>
      </p:sp>
      <p:sp>
        <p:nvSpPr>
          <p:cNvPr id="17" name="Shape 13"/>
          <p:cNvSpPr/>
          <p:nvPr/>
        </p:nvSpPr>
        <p:spPr>
          <a:xfrm>
            <a:off x="2830068" y="1335024"/>
            <a:ext cx="713232" cy="713232"/>
          </a:xfrm>
          <a:prstGeom prst="ellipse">
            <a:avLst/>
          </a:prstGeom>
          <a:solidFill>
            <a:srgbClr val="4A5D23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18" name="Image 2" descr="/home/claude/farmverse_v2/icons/flow_addfa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8376" y="1513332"/>
            <a:ext cx="356616" cy="35661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360420" y="1243584"/>
            <a:ext cx="329184" cy="329184"/>
          </a:xfrm>
          <a:prstGeom prst="ellipse">
            <a:avLst/>
          </a:prstGeom>
          <a:solidFill>
            <a:srgbClr val="D4A01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360420" y="12435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2683764" y="21214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Farm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4530852" y="1591056"/>
            <a:ext cx="219456" cy="201168"/>
          </a:xfrm>
          <a:prstGeom prst="rightArrow">
            <a:avLst/>
          </a:prstGeom>
          <a:solidFill>
            <a:srgbClr val="D4C9A0"/>
          </a:solidFill>
          <a:ln/>
        </p:spPr>
      </p:sp>
      <p:sp>
        <p:nvSpPr>
          <p:cNvPr id="23" name="Shape 18"/>
          <p:cNvSpPr/>
          <p:nvPr/>
        </p:nvSpPr>
        <p:spPr>
          <a:xfrm>
            <a:off x="3799332" y="1335024"/>
            <a:ext cx="713232" cy="713232"/>
          </a:xfrm>
          <a:prstGeom prst="ellipse">
            <a:avLst/>
          </a:prstGeom>
          <a:solidFill>
            <a:srgbClr val="3D4D1C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24" name="Image 3" descr="/home/claude/farmverse_v2/icons/flow_soilda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0" y="1513332"/>
            <a:ext cx="356616" cy="35661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329684" y="1243584"/>
            <a:ext cx="329184" cy="329184"/>
          </a:xfrm>
          <a:prstGeom prst="ellipse">
            <a:avLst/>
          </a:prstGeom>
          <a:solidFill>
            <a:srgbClr val="D4A01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329684" y="12435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3653028" y="21214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Data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5500116" y="1591056"/>
            <a:ext cx="219456" cy="201168"/>
          </a:xfrm>
          <a:prstGeom prst="rightArrow">
            <a:avLst/>
          </a:prstGeom>
          <a:solidFill>
            <a:srgbClr val="D4C9A0"/>
          </a:solidFill>
          <a:ln/>
        </p:spPr>
      </p:sp>
      <p:sp>
        <p:nvSpPr>
          <p:cNvPr id="29" name="Shape 23"/>
          <p:cNvSpPr/>
          <p:nvPr/>
        </p:nvSpPr>
        <p:spPr>
          <a:xfrm>
            <a:off x="4768596" y="1335024"/>
            <a:ext cx="713232" cy="713232"/>
          </a:xfrm>
          <a:prstGeom prst="ellipse">
            <a:avLst/>
          </a:prstGeom>
          <a:solidFill>
            <a:srgbClr val="4A5D23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30" name="Image 4" descr="/home/claude/farmverse_v2/icons/flow_weath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6904" y="1513332"/>
            <a:ext cx="356616" cy="35661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298948" y="1243584"/>
            <a:ext cx="329184" cy="329184"/>
          </a:xfrm>
          <a:prstGeom prst="ellipse">
            <a:avLst/>
          </a:prstGeom>
          <a:solidFill>
            <a:srgbClr val="D4A01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5298948" y="12435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4622292" y="21214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6469380" y="1591056"/>
            <a:ext cx="219456" cy="201168"/>
          </a:xfrm>
          <a:prstGeom prst="rightArrow">
            <a:avLst/>
          </a:prstGeom>
          <a:solidFill>
            <a:srgbClr val="D4C9A0"/>
          </a:solidFill>
          <a:ln/>
        </p:spPr>
      </p:sp>
      <p:sp>
        <p:nvSpPr>
          <p:cNvPr id="35" name="Shape 28"/>
          <p:cNvSpPr/>
          <p:nvPr/>
        </p:nvSpPr>
        <p:spPr>
          <a:xfrm>
            <a:off x="5737860" y="1335024"/>
            <a:ext cx="713232" cy="713232"/>
          </a:xfrm>
          <a:prstGeom prst="ellipse">
            <a:avLst/>
          </a:prstGeom>
          <a:solidFill>
            <a:srgbClr val="3D4D1C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36" name="Image 5" descr="/home/claude/farmverse_v2/icons/flow_cropre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6168" y="1513332"/>
            <a:ext cx="356616" cy="356616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6268212" y="1243584"/>
            <a:ext cx="329184" cy="329184"/>
          </a:xfrm>
          <a:prstGeom prst="ellipse">
            <a:avLst/>
          </a:prstGeom>
          <a:solidFill>
            <a:srgbClr val="D4A01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6268212" y="12435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9" name="Text 31"/>
          <p:cNvSpPr txBox="1"/>
          <p:nvPr/>
        </p:nvSpPr>
        <p:spPr>
          <a:xfrm>
            <a:off x="5591556" y="21214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Rec.</a:t>
            </a:r>
            <a:endParaRPr lang="en-US" sz="1600" dirty="0"/>
          </a:p>
        </p:txBody>
      </p:sp>
      <p:sp>
        <p:nvSpPr>
          <p:cNvPr id="40" name="Shape 32"/>
          <p:cNvSpPr/>
          <p:nvPr/>
        </p:nvSpPr>
        <p:spPr>
          <a:xfrm>
            <a:off x="7438644" y="1591056"/>
            <a:ext cx="219456" cy="201168"/>
          </a:xfrm>
          <a:prstGeom prst="rightArrow">
            <a:avLst/>
          </a:prstGeom>
          <a:solidFill>
            <a:srgbClr val="D4C9A0"/>
          </a:solidFill>
          <a:ln/>
        </p:spPr>
      </p:sp>
      <p:sp>
        <p:nvSpPr>
          <p:cNvPr id="41" name="Shape 33"/>
          <p:cNvSpPr/>
          <p:nvPr/>
        </p:nvSpPr>
        <p:spPr>
          <a:xfrm>
            <a:off x="6707124" y="1335024"/>
            <a:ext cx="713232" cy="713232"/>
          </a:xfrm>
          <a:prstGeom prst="ellipse">
            <a:avLst/>
          </a:prstGeom>
          <a:solidFill>
            <a:srgbClr val="4A5D23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42" name="Image 6" descr="/home/claude/farmverse_v2/icons/flow_irrigpl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5432" y="1513332"/>
            <a:ext cx="356616" cy="356616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7237476" y="1243584"/>
            <a:ext cx="329184" cy="329184"/>
          </a:xfrm>
          <a:prstGeom prst="ellipse">
            <a:avLst/>
          </a:prstGeom>
          <a:solidFill>
            <a:srgbClr val="D4A01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7237476" y="12435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45" name="Text 36"/>
          <p:cNvSpPr txBox="1"/>
          <p:nvPr/>
        </p:nvSpPr>
        <p:spPr>
          <a:xfrm>
            <a:off x="6560820" y="21214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</a:t>
            </a:r>
            <a:endParaRPr lang="en-US" sz="1600" dirty="0"/>
          </a:p>
        </p:txBody>
      </p:sp>
      <p:sp>
        <p:nvSpPr>
          <p:cNvPr id="46" name="Shape 37"/>
          <p:cNvSpPr/>
          <p:nvPr/>
        </p:nvSpPr>
        <p:spPr>
          <a:xfrm>
            <a:off x="8407908" y="1591056"/>
            <a:ext cx="219456" cy="201168"/>
          </a:xfrm>
          <a:prstGeom prst="rightArrow">
            <a:avLst/>
          </a:prstGeom>
          <a:solidFill>
            <a:srgbClr val="D4C9A0"/>
          </a:solidFill>
          <a:ln/>
        </p:spPr>
      </p:sp>
      <p:sp>
        <p:nvSpPr>
          <p:cNvPr id="47" name="Shape 38"/>
          <p:cNvSpPr/>
          <p:nvPr/>
        </p:nvSpPr>
        <p:spPr>
          <a:xfrm>
            <a:off x="7676388" y="1335024"/>
            <a:ext cx="713232" cy="713232"/>
          </a:xfrm>
          <a:prstGeom prst="ellipse">
            <a:avLst/>
          </a:prstGeom>
          <a:solidFill>
            <a:srgbClr val="3D4D1C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48" name="Image 7" descr="/home/claude/farmverse_v2/icons/flow_dise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4696" y="1513332"/>
            <a:ext cx="356616" cy="356616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8206740" y="1243584"/>
            <a:ext cx="329184" cy="329184"/>
          </a:xfrm>
          <a:prstGeom prst="ellipse">
            <a:avLst/>
          </a:prstGeom>
          <a:solidFill>
            <a:srgbClr val="D4A01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8206740" y="12435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51" name="Text 41"/>
          <p:cNvSpPr txBox="1"/>
          <p:nvPr/>
        </p:nvSpPr>
        <p:spPr>
          <a:xfrm>
            <a:off x="7530084" y="21214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Scan</a:t>
            </a:r>
            <a:endParaRPr lang="en-US" sz="1600" dirty="0"/>
          </a:p>
        </p:txBody>
      </p:sp>
      <p:sp>
        <p:nvSpPr>
          <p:cNvPr id="52" name="Shape 42"/>
          <p:cNvSpPr/>
          <p:nvPr/>
        </p:nvSpPr>
        <p:spPr>
          <a:xfrm>
            <a:off x="9377172" y="1591056"/>
            <a:ext cx="219456" cy="201168"/>
          </a:xfrm>
          <a:prstGeom prst="rightArrow">
            <a:avLst/>
          </a:prstGeom>
          <a:solidFill>
            <a:srgbClr val="D4C9A0"/>
          </a:solidFill>
          <a:ln/>
        </p:spPr>
      </p:sp>
      <p:sp>
        <p:nvSpPr>
          <p:cNvPr id="53" name="Shape 43"/>
          <p:cNvSpPr/>
          <p:nvPr/>
        </p:nvSpPr>
        <p:spPr>
          <a:xfrm>
            <a:off x="8645652" y="1335024"/>
            <a:ext cx="713232" cy="713232"/>
          </a:xfrm>
          <a:prstGeom prst="ellipse">
            <a:avLst/>
          </a:prstGeom>
          <a:solidFill>
            <a:srgbClr val="4A5D23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54" name="Image 8" descr="/home/claude/farmverse_v2/icons/flow_notif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23960" y="1513332"/>
            <a:ext cx="356616" cy="356616"/>
          </a:xfrm>
          <a:prstGeom prst="rect">
            <a:avLst/>
          </a:prstGeom>
        </p:spPr>
      </p:pic>
      <p:sp>
        <p:nvSpPr>
          <p:cNvPr id="55" name="Shape 44"/>
          <p:cNvSpPr/>
          <p:nvPr/>
        </p:nvSpPr>
        <p:spPr>
          <a:xfrm>
            <a:off x="9176004" y="1243584"/>
            <a:ext cx="329184" cy="329184"/>
          </a:xfrm>
          <a:prstGeom prst="ellipse">
            <a:avLst/>
          </a:prstGeom>
          <a:solidFill>
            <a:srgbClr val="D4A01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6" name="Text 45"/>
          <p:cNvSpPr txBox="1"/>
          <p:nvPr/>
        </p:nvSpPr>
        <p:spPr>
          <a:xfrm>
            <a:off x="9176004" y="12435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57" name="Text 46"/>
          <p:cNvSpPr txBox="1"/>
          <p:nvPr/>
        </p:nvSpPr>
        <p:spPr>
          <a:xfrm>
            <a:off x="8499348" y="21214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600" dirty="0"/>
          </a:p>
        </p:txBody>
      </p:sp>
      <p:sp>
        <p:nvSpPr>
          <p:cNvPr id="58" name="Shape 47"/>
          <p:cNvSpPr/>
          <p:nvPr/>
        </p:nvSpPr>
        <p:spPr>
          <a:xfrm>
            <a:off x="10346436" y="1591056"/>
            <a:ext cx="219456" cy="201168"/>
          </a:xfrm>
          <a:prstGeom prst="rightArrow">
            <a:avLst/>
          </a:prstGeom>
          <a:solidFill>
            <a:srgbClr val="D4C9A0"/>
          </a:solidFill>
          <a:ln/>
        </p:spPr>
      </p:sp>
      <p:sp>
        <p:nvSpPr>
          <p:cNvPr id="59" name="Shape 48"/>
          <p:cNvSpPr/>
          <p:nvPr/>
        </p:nvSpPr>
        <p:spPr>
          <a:xfrm>
            <a:off x="9614916" y="1335024"/>
            <a:ext cx="713232" cy="713232"/>
          </a:xfrm>
          <a:prstGeom prst="ellipse">
            <a:avLst/>
          </a:prstGeom>
          <a:solidFill>
            <a:srgbClr val="3D4D1C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60" name="Image 9" descr="/home/claude/farmverse_v2/icons/flow_dashboar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93224" y="1513332"/>
            <a:ext cx="356616" cy="356616"/>
          </a:xfrm>
          <a:prstGeom prst="rect">
            <a:avLst/>
          </a:prstGeom>
        </p:spPr>
      </p:pic>
      <p:sp>
        <p:nvSpPr>
          <p:cNvPr id="61" name="Shape 49"/>
          <p:cNvSpPr/>
          <p:nvPr/>
        </p:nvSpPr>
        <p:spPr>
          <a:xfrm>
            <a:off x="10145268" y="1243584"/>
            <a:ext cx="329184" cy="329184"/>
          </a:xfrm>
          <a:prstGeom prst="ellipse">
            <a:avLst/>
          </a:prstGeom>
          <a:solidFill>
            <a:srgbClr val="D4A01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2" name="Text 50"/>
          <p:cNvSpPr txBox="1"/>
          <p:nvPr/>
        </p:nvSpPr>
        <p:spPr>
          <a:xfrm>
            <a:off x="10145268" y="12435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63" name="Text 51"/>
          <p:cNvSpPr txBox="1"/>
          <p:nvPr/>
        </p:nvSpPr>
        <p:spPr>
          <a:xfrm>
            <a:off x="9468612" y="2121408"/>
            <a:ext cx="11384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64" name="Shape 52"/>
          <p:cNvSpPr/>
          <p:nvPr/>
        </p:nvSpPr>
        <p:spPr>
          <a:xfrm>
            <a:off x="10584180" y="1335024"/>
            <a:ext cx="713232" cy="713232"/>
          </a:xfrm>
          <a:prstGeom prst="ellipse">
            <a:avLst/>
          </a:prstGeom>
          <a:solidFill>
            <a:srgbClr val="4A5D23"/>
          </a:solidFill>
          <a:ln/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pic>
        <p:nvPicPr>
          <p:cNvPr id="65" name="Image 10" descr="/home/claude/farmverse_v2/icons/flow_report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62488" y="1513332"/>
            <a:ext cx="356616" cy="356616"/>
          </a:xfrm>
          <a:prstGeom prst="rect">
            <a:avLst/>
          </a:prstGeom>
        </p:spPr>
      </p:pic>
      <p:sp>
        <p:nvSpPr>
          <p:cNvPr id="66" name="Shape 53"/>
          <p:cNvSpPr/>
          <p:nvPr/>
        </p:nvSpPr>
        <p:spPr>
          <a:xfrm>
            <a:off x="11114532" y="1243584"/>
            <a:ext cx="329184" cy="329184"/>
          </a:xfrm>
          <a:prstGeom prst="ellipse">
            <a:avLst/>
          </a:prstGeom>
          <a:solidFill>
            <a:srgbClr val="D4A01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7" name="Text 54"/>
          <p:cNvSpPr txBox="1"/>
          <p:nvPr/>
        </p:nvSpPr>
        <p:spPr>
          <a:xfrm>
            <a:off x="11114532" y="12435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68" name="Text 55"/>
          <p:cNvSpPr txBox="1"/>
          <p:nvPr/>
        </p:nvSpPr>
        <p:spPr>
          <a:xfrm>
            <a:off x="10474452" y="2113127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600" dirty="0"/>
          </a:p>
        </p:txBody>
      </p:sp>
      <p:sp>
        <p:nvSpPr>
          <p:cNvPr id="69" name="Text 56"/>
          <p:cNvSpPr txBox="1"/>
          <p:nvPr/>
        </p:nvSpPr>
        <p:spPr>
          <a:xfrm>
            <a:off x="582930" y="3246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4A5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ON-DEMAND, FROM ANY ROLE'S DASHBOARD</a:t>
            </a:r>
            <a:endParaRPr lang="en-US" dirty="0"/>
          </a:p>
        </p:txBody>
      </p:sp>
      <p:sp>
        <p:nvSpPr>
          <p:cNvPr id="70" name="Shape 57"/>
          <p:cNvSpPr/>
          <p:nvPr/>
        </p:nvSpPr>
        <p:spPr>
          <a:xfrm>
            <a:off x="498348" y="3639312"/>
            <a:ext cx="1170432" cy="141732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71" name="Shape 58"/>
          <p:cNvSpPr/>
          <p:nvPr/>
        </p:nvSpPr>
        <p:spPr>
          <a:xfrm>
            <a:off x="832104" y="377190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72" name="Image 11" descr="/home/claude/farmverse_v2/icons/flow_mandi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7834" y="3897630"/>
            <a:ext cx="251460" cy="251460"/>
          </a:xfrm>
          <a:prstGeom prst="rect">
            <a:avLst/>
          </a:prstGeom>
        </p:spPr>
      </p:pic>
      <p:sp>
        <p:nvSpPr>
          <p:cNvPr id="73" name="Text 59"/>
          <p:cNvSpPr txBox="1"/>
          <p:nvPr/>
        </p:nvSpPr>
        <p:spPr>
          <a:xfrm>
            <a:off x="553212" y="4352544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/>
              <a:t>Mandi </a:t>
            </a:r>
            <a:br>
              <a:rPr lang="en-US" sz="1400" b="1" dirty="0"/>
            </a:br>
            <a:r>
              <a:rPr lang="en-US" sz="1400" b="1" dirty="0"/>
              <a:t>Prices</a:t>
            </a:r>
          </a:p>
        </p:txBody>
      </p:sp>
      <p:sp>
        <p:nvSpPr>
          <p:cNvPr id="74" name="Shape 60"/>
          <p:cNvSpPr/>
          <p:nvPr/>
        </p:nvSpPr>
        <p:spPr>
          <a:xfrm>
            <a:off x="1751076" y="3639312"/>
            <a:ext cx="1170432" cy="141732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75" name="Shape 61"/>
          <p:cNvSpPr/>
          <p:nvPr/>
        </p:nvSpPr>
        <p:spPr>
          <a:xfrm>
            <a:off x="2084832" y="377190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76" name="Image 12" descr="/home/claude/farmverse_v2/icons/flow_credi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10562" y="3897630"/>
            <a:ext cx="251460" cy="251460"/>
          </a:xfrm>
          <a:prstGeom prst="rect">
            <a:avLst/>
          </a:prstGeom>
        </p:spPr>
      </p:pic>
      <p:sp>
        <p:nvSpPr>
          <p:cNvPr id="77" name="Text 62"/>
          <p:cNvSpPr txBox="1"/>
          <p:nvPr/>
        </p:nvSpPr>
        <p:spPr>
          <a:xfrm>
            <a:off x="1805940" y="4352544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</a:t>
            </a:r>
            <a:endParaRPr lang="en-US" sz="1400" dirty="0"/>
          </a:p>
        </p:txBody>
      </p:sp>
      <p:sp>
        <p:nvSpPr>
          <p:cNvPr id="78" name="Shape 63"/>
          <p:cNvSpPr/>
          <p:nvPr/>
        </p:nvSpPr>
        <p:spPr>
          <a:xfrm>
            <a:off x="3003804" y="3639312"/>
            <a:ext cx="1170432" cy="141732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79" name="Shape 64"/>
          <p:cNvSpPr/>
          <p:nvPr/>
        </p:nvSpPr>
        <p:spPr>
          <a:xfrm>
            <a:off x="3337560" y="377190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80" name="Image 13" descr="/home/claude/farmverse_v2/icons/flow_carbo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63290" y="3897630"/>
            <a:ext cx="251460" cy="251460"/>
          </a:xfrm>
          <a:prstGeom prst="rect">
            <a:avLst/>
          </a:prstGeom>
        </p:spPr>
      </p:pic>
      <p:sp>
        <p:nvSpPr>
          <p:cNvPr id="81" name="Text 65"/>
          <p:cNvSpPr txBox="1"/>
          <p:nvPr/>
        </p:nvSpPr>
        <p:spPr>
          <a:xfrm>
            <a:off x="3058668" y="4352544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Tracker</a:t>
            </a:r>
            <a:endParaRPr lang="en-US" sz="1400" dirty="0"/>
          </a:p>
        </p:txBody>
      </p:sp>
      <p:sp>
        <p:nvSpPr>
          <p:cNvPr id="82" name="Shape 66"/>
          <p:cNvSpPr/>
          <p:nvPr/>
        </p:nvSpPr>
        <p:spPr>
          <a:xfrm>
            <a:off x="4256532" y="3639312"/>
            <a:ext cx="1170432" cy="141732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83" name="Shape 67"/>
          <p:cNvSpPr/>
          <p:nvPr/>
        </p:nvSpPr>
        <p:spPr>
          <a:xfrm>
            <a:off x="4590288" y="377190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84" name="Image 14" descr="/home/claude/farmverse_v2/icons/flow_equipmen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16018" y="3897630"/>
            <a:ext cx="251460" cy="251460"/>
          </a:xfrm>
          <a:prstGeom prst="rect">
            <a:avLst/>
          </a:prstGeom>
        </p:spPr>
      </p:pic>
      <p:sp>
        <p:nvSpPr>
          <p:cNvPr id="85" name="Text 68"/>
          <p:cNvSpPr txBox="1"/>
          <p:nvPr/>
        </p:nvSpPr>
        <p:spPr>
          <a:xfrm>
            <a:off x="4311396" y="4352544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Rental</a:t>
            </a:r>
            <a:endParaRPr lang="en-US" sz="1400" dirty="0"/>
          </a:p>
        </p:txBody>
      </p:sp>
      <p:sp>
        <p:nvSpPr>
          <p:cNvPr id="86" name="Shape 69"/>
          <p:cNvSpPr/>
          <p:nvPr/>
        </p:nvSpPr>
        <p:spPr>
          <a:xfrm>
            <a:off x="5509260" y="3639312"/>
            <a:ext cx="1170432" cy="141732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87" name="Shape 70"/>
          <p:cNvSpPr/>
          <p:nvPr/>
        </p:nvSpPr>
        <p:spPr>
          <a:xfrm>
            <a:off x="5843016" y="377190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88" name="Image 15" descr="/home/claude/farmverse_v2/icons/flow_rescu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68746" y="3897630"/>
            <a:ext cx="251460" cy="251460"/>
          </a:xfrm>
          <a:prstGeom prst="rect">
            <a:avLst/>
          </a:prstGeom>
        </p:spPr>
      </p:pic>
      <p:sp>
        <p:nvSpPr>
          <p:cNvPr id="89" name="Text 71"/>
          <p:cNvSpPr txBox="1"/>
          <p:nvPr/>
        </p:nvSpPr>
        <p:spPr>
          <a:xfrm>
            <a:off x="5564124" y="4352544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Rescue</a:t>
            </a:r>
            <a:endParaRPr lang="en-US" sz="1400" dirty="0"/>
          </a:p>
        </p:txBody>
      </p:sp>
      <p:sp>
        <p:nvSpPr>
          <p:cNvPr id="90" name="Shape 72"/>
          <p:cNvSpPr/>
          <p:nvPr/>
        </p:nvSpPr>
        <p:spPr>
          <a:xfrm>
            <a:off x="6761988" y="3639312"/>
            <a:ext cx="1170432" cy="141732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91" name="Shape 73"/>
          <p:cNvSpPr/>
          <p:nvPr/>
        </p:nvSpPr>
        <p:spPr>
          <a:xfrm>
            <a:off x="7095744" y="377190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92" name="Image 16" descr="/home/claude/farmverse_v2/icons/flow_simulato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21474" y="3897630"/>
            <a:ext cx="251460" cy="251460"/>
          </a:xfrm>
          <a:prstGeom prst="rect">
            <a:avLst/>
          </a:prstGeom>
        </p:spPr>
      </p:pic>
      <p:sp>
        <p:nvSpPr>
          <p:cNvPr id="93" name="Text 74"/>
          <p:cNvSpPr txBox="1"/>
          <p:nvPr/>
        </p:nvSpPr>
        <p:spPr>
          <a:xfrm>
            <a:off x="6816852" y="4352544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Simulator</a:t>
            </a:r>
            <a:endParaRPr lang="en-US" sz="1400" dirty="0"/>
          </a:p>
        </p:txBody>
      </p:sp>
      <p:sp>
        <p:nvSpPr>
          <p:cNvPr id="94" name="Shape 75"/>
          <p:cNvSpPr/>
          <p:nvPr/>
        </p:nvSpPr>
        <p:spPr>
          <a:xfrm>
            <a:off x="8014716" y="3639312"/>
            <a:ext cx="1170432" cy="141732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95" name="Shape 76"/>
          <p:cNvSpPr/>
          <p:nvPr/>
        </p:nvSpPr>
        <p:spPr>
          <a:xfrm>
            <a:off x="8348472" y="377190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96" name="Image 17" descr="/home/claude/farmverse_v2/icons/flow_trac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74202" y="3897630"/>
            <a:ext cx="251460" cy="251460"/>
          </a:xfrm>
          <a:prstGeom prst="rect">
            <a:avLst/>
          </a:prstGeom>
        </p:spPr>
      </p:pic>
      <p:sp>
        <p:nvSpPr>
          <p:cNvPr id="97" name="Text 77"/>
          <p:cNvSpPr txBox="1"/>
          <p:nvPr/>
        </p:nvSpPr>
        <p:spPr>
          <a:xfrm>
            <a:off x="8069580" y="4352544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400" dirty="0"/>
          </a:p>
        </p:txBody>
      </p:sp>
      <p:sp>
        <p:nvSpPr>
          <p:cNvPr id="98" name="Shape 78"/>
          <p:cNvSpPr/>
          <p:nvPr/>
        </p:nvSpPr>
        <p:spPr>
          <a:xfrm>
            <a:off x="9267444" y="3639312"/>
            <a:ext cx="1170432" cy="141732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99" name="Shape 79"/>
          <p:cNvSpPr/>
          <p:nvPr/>
        </p:nvSpPr>
        <p:spPr>
          <a:xfrm>
            <a:off x="9601200" y="377190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00" name="Image 18" descr="/home/claude/farmverse_v2/icons/flow_voic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26930" y="3897630"/>
            <a:ext cx="251460" cy="251460"/>
          </a:xfrm>
          <a:prstGeom prst="rect">
            <a:avLst/>
          </a:prstGeom>
        </p:spPr>
      </p:pic>
      <p:sp>
        <p:nvSpPr>
          <p:cNvPr id="101" name="Text 80"/>
          <p:cNvSpPr txBox="1"/>
          <p:nvPr/>
        </p:nvSpPr>
        <p:spPr>
          <a:xfrm>
            <a:off x="9322308" y="4352544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</a:t>
            </a:r>
            <a:endParaRPr lang="en-US" sz="1400" dirty="0"/>
          </a:p>
        </p:txBody>
      </p:sp>
      <p:sp>
        <p:nvSpPr>
          <p:cNvPr id="102" name="Shape 81"/>
          <p:cNvSpPr/>
          <p:nvPr/>
        </p:nvSpPr>
        <p:spPr>
          <a:xfrm>
            <a:off x="10520172" y="3639312"/>
            <a:ext cx="1170432" cy="141732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103" name="Shape 82"/>
          <p:cNvSpPr/>
          <p:nvPr/>
        </p:nvSpPr>
        <p:spPr>
          <a:xfrm>
            <a:off x="10853928" y="377190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04" name="Image 19" descr="/home/claude/farmverse_v2/icons/flow_ai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79658" y="3897630"/>
            <a:ext cx="251460" cy="251460"/>
          </a:xfrm>
          <a:prstGeom prst="rect">
            <a:avLst/>
          </a:prstGeom>
        </p:spPr>
      </p:pic>
      <p:sp>
        <p:nvSpPr>
          <p:cNvPr id="105" name="Text 83"/>
          <p:cNvSpPr txBox="1"/>
          <p:nvPr/>
        </p:nvSpPr>
        <p:spPr>
          <a:xfrm>
            <a:off x="10575036" y="4352544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Advisory</a:t>
            </a:r>
            <a:endParaRPr lang="en-US" sz="1400" dirty="0"/>
          </a:p>
        </p:txBody>
      </p:sp>
      <p:sp>
        <p:nvSpPr>
          <p:cNvPr id="106" name="Text 84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 |  Infosys Springboard Internship</a:t>
            </a:r>
            <a:endParaRPr lang="en-US" sz="1100" dirty="0"/>
          </a:p>
        </p:txBody>
      </p:sp>
      <p:sp>
        <p:nvSpPr>
          <p:cNvPr id="107" name="Text 85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rmverse_v2/bg/bg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1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capabilities across the full platform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801368"/>
            <a:ext cx="548640" cy="548640"/>
          </a:xfrm>
          <a:prstGeom prst="ellipse">
            <a:avLst/>
          </a:prstGeom>
          <a:solidFill>
            <a:srgbClr val="F5EDD8"/>
          </a:solidFill>
          <a:ln/>
        </p:spPr>
      </p:sp>
      <p:pic>
        <p:nvPicPr>
          <p:cNvPr id="7" name="Image 1" descr="/home/claude/farmverse_v2/icons/feat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93852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1792" y="2468880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(JWT)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911096" y="1508760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276856" y="1801368"/>
            <a:ext cx="548640" cy="548640"/>
          </a:xfrm>
          <a:prstGeom prst="ellipse">
            <a:avLst/>
          </a:prstGeom>
          <a:solidFill>
            <a:srgbClr val="F5EDD8"/>
          </a:solidFill>
          <a:ln/>
        </p:spPr>
      </p:sp>
      <p:pic>
        <p:nvPicPr>
          <p:cNvPr id="11" name="Image 2" descr="/home/claude/farmverse_v2/icons/feat_weath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4016" y="193852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984248" y="2468880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3273552" y="1508760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639312" y="1801368"/>
            <a:ext cx="548640" cy="548640"/>
          </a:xfrm>
          <a:prstGeom prst="ellipse">
            <a:avLst/>
          </a:prstGeom>
          <a:solidFill>
            <a:srgbClr val="F5EDD8"/>
          </a:solidFill>
          <a:ln/>
        </p:spPr>
      </p:sp>
      <p:pic>
        <p:nvPicPr>
          <p:cNvPr id="15" name="Image 3" descr="/home/claude/farmverse_v2/icons/feat_satell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6472" y="193852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346704" y="2468880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NDVI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636008" y="1508760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001768" y="1801368"/>
            <a:ext cx="548640" cy="548640"/>
          </a:xfrm>
          <a:prstGeom prst="ellipse">
            <a:avLst/>
          </a:prstGeom>
          <a:solidFill>
            <a:srgbClr val="F5EDD8"/>
          </a:solidFill>
          <a:ln/>
        </p:spPr>
      </p:sp>
      <p:pic>
        <p:nvPicPr>
          <p:cNvPr id="19" name="Image 4" descr="/home/claude/farmverse_v2/icons/feat_so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8928" y="1938528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709160" y="2468880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Health Analysis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5998464" y="1508760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364224" y="1801368"/>
            <a:ext cx="548640" cy="548640"/>
          </a:xfrm>
          <a:prstGeom prst="ellipse">
            <a:avLst/>
          </a:prstGeom>
          <a:solidFill>
            <a:srgbClr val="F5EDD8"/>
          </a:solidFill>
          <a:ln/>
        </p:spPr>
      </p:sp>
      <p:pic>
        <p:nvPicPr>
          <p:cNvPr id="23" name="Image 5" descr="/home/claude/farmverse_v2/icons/feat_dise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1384" y="1938528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071616" y="2468880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Disease Detection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7360920" y="1508760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726680" y="1801368"/>
            <a:ext cx="548640" cy="548640"/>
          </a:xfrm>
          <a:prstGeom prst="ellipse">
            <a:avLst/>
          </a:prstGeom>
          <a:solidFill>
            <a:srgbClr val="F5EDD8"/>
          </a:solidFill>
          <a:ln/>
        </p:spPr>
      </p:sp>
      <p:pic>
        <p:nvPicPr>
          <p:cNvPr id="27" name="Image 6" descr="/home/claude/farmverse_v2/icons/feat_a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0" y="1938528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434072" y="2468880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Advisory</a:t>
            </a:r>
            <a:endParaRPr lang="en-US" sz="1400" dirty="0"/>
          </a:p>
        </p:txBody>
      </p:sp>
      <p:sp>
        <p:nvSpPr>
          <p:cNvPr id="29" name="Shape 20"/>
          <p:cNvSpPr/>
          <p:nvPr/>
        </p:nvSpPr>
        <p:spPr>
          <a:xfrm>
            <a:off x="8723376" y="1508760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9089136" y="1801368"/>
            <a:ext cx="548640" cy="548640"/>
          </a:xfrm>
          <a:prstGeom prst="ellipse">
            <a:avLst/>
          </a:prstGeom>
          <a:solidFill>
            <a:srgbClr val="F5EDD8"/>
          </a:solidFill>
          <a:ln/>
        </p:spPr>
      </p:sp>
      <p:pic>
        <p:nvPicPr>
          <p:cNvPr id="31" name="Image 7" descr="/home/claude/farmverse_v2/icons/feat_irriga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6296" y="1938528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8796528" y="2468880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+ IoT</a:t>
            </a:r>
            <a:endParaRPr lang="en-US" sz="1400" dirty="0"/>
          </a:p>
        </p:txBody>
      </p:sp>
      <p:sp>
        <p:nvSpPr>
          <p:cNvPr id="33" name="Shape 23"/>
          <p:cNvSpPr/>
          <p:nvPr/>
        </p:nvSpPr>
        <p:spPr>
          <a:xfrm>
            <a:off x="10085832" y="1508760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10451592" y="1801368"/>
            <a:ext cx="548640" cy="548640"/>
          </a:xfrm>
          <a:prstGeom prst="ellipse">
            <a:avLst/>
          </a:prstGeom>
          <a:solidFill>
            <a:srgbClr val="F5EDD8"/>
          </a:solidFill>
          <a:ln/>
        </p:spPr>
      </p:sp>
      <p:pic>
        <p:nvPicPr>
          <p:cNvPr id="35" name="Image 8" descr="/home/claude/farmverse_v2/icons/feat_mand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88752" y="1938528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0158984" y="2468880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e-NAM Mandi Prices</a:t>
            </a:r>
            <a:endParaRPr lang="en-US" sz="1400" dirty="0"/>
          </a:p>
        </p:txBody>
      </p:sp>
      <p:sp>
        <p:nvSpPr>
          <p:cNvPr id="37" name="Shape 26"/>
          <p:cNvSpPr/>
          <p:nvPr/>
        </p:nvSpPr>
        <p:spPr>
          <a:xfrm>
            <a:off x="548640" y="3346704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914400" y="3639312"/>
            <a:ext cx="548640" cy="548640"/>
          </a:xfrm>
          <a:prstGeom prst="ellipse">
            <a:avLst/>
          </a:prstGeom>
          <a:solidFill>
            <a:srgbClr val="F5EDD8"/>
          </a:solidFill>
          <a:ln/>
        </p:spPr>
      </p:sp>
      <p:pic>
        <p:nvPicPr>
          <p:cNvPr id="39" name="Image 9" descr="/home/claude/farmverse_v2/icons/feat_credi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1560" y="3776472"/>
            <a:ext cx="274320" cy="27432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621792" y="4306824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Agri-Credit Scoring</a:t>
            </a:r>
            <a:endParaRPr lang="en-US" sz="1400" dirty="0"/>
          </a:p>
        </p:txBody>
      </p:sp>
      <p:sp>
        <p:nvSpPr>
          <p:cNvPr id="41" name="Shape 29"/>
          <p:cNvSpPr/>
          <p:nvPr/>
        </p:nvSpPr>
        <p:spPr>
          <a:xfrm>
            <a:off x="1911096" y="3346704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42" name="Shape 30"/>
          <p:cNvSpPr/>
          <p:nvPr/>
        </p:nvSpPr>
        <p:spPr>
          <a:xfrm>
            <a:off x="2276856" y="3639312"/>
            <a:ext cx="548640" cy="548640"/>
          </a:xfrm>
          <a:prstGeom prst="ellipse">
            <a:avLst/>
          </a:prstGeom>
          <a:solidFill>
            <a:srgbClr val="F5EDD8"/>
          </a:solidFill>
          <a:ln/>
        </p:spPr>
      </p:sp>
      <p:pic>
        <p:nvPicPr>
          <p:cNvPr id="43" name="Image 10" descr="/home/claude/farmverse_v2/icons/feat_carb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14016" y="3776472"/>
            <a:ext cx="274320" cy="274320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1984248" y="4306824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 Market</a:t>
            </a:r>
            <a:endParaRPr lang="en-US" sz="1400" dirty="0"/>
          </a:p>
        </p:txBody>
      </p:sp>
      <p:sp>
        <p:nvSpPr>
          <p:cNvPr id="45" name="Shape 32"/>
          <p:cNvSpPr/>
          <p:nvPr/>
        </p:nvSpPr>
        <p:spPr>
          <a:xfrm>
            <a:off x="3273552" y="3346704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46" name="Shape 33"/>
          <p:cNvSpPr/>
          <p:nvPr/>
        </p:nvSpPr>
        <p:spPr>
          <a:xfrm>
            <a:off x="3639312" y="3639312"/>
            <a:ext cx="548640" cy="548640"/>
          </a:xfrm>
          <a:prstGeom prst="ellipse">
            <a:avLst/>
          </a:prstGeom>
          <a:solidFill>
            <a:srgbClr val="F5EDD8"/>
          </a:solidFill>
          <a:ln/>
        </p:spPr>
      </p:sp>
      <p:pic>
        <p:nvPicPr>
          <p:cNvPr id="47" name="Image 11" descr="/home/claude/farmverse_v2/icons/feat_equipmen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6472" y="3776472"/>
            <a:ext cx="274320" cy="274320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3346704" y="4306824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Rental</a:t>
            </a:r>
            <a:endParaRPr lang="en-US" sz="1400" dirty="0"/>
          </a:p>
        </p:txBody>
      </p:sp>
      <p:sp>
        <p:nvSpPr>
          <p:cNvPr id="49" name="Shape 35"/>
          <p:cNvSpPr/>
          <p:nvPr/>
        </p:nvSpPr>
        <p:spPr>
          <a:xfrm>
            <a:off x="4636008" y="3346704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0" name="Shape 36"/>
          <p:cNvSpPr/>
          <p:nvPr/>
        </p:nvSpPr>
        <p:spPr>
          <a:xfrm>
            <a:off x="5001768" y="3639312"/>
            <a:ext cx="548640" cy="548640"/>
          </a:xfrm>
          <a:prstGeom prst="ellipse">
            <a:avLst/>
          </a:prstGeom>
          <a:solidFill>
            <a:srgbClr val="F5EDD8"/>
          </a:solidFill>
          <a:ln/>
        </p:spPr>
      </p:sp>
      <p:pic>
        <p:nvPicPr>
          <p:cNvPr id="51" name="Image 12" descr="/home/claude/farmverse_v2/icons/feat_trac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38928" y="3776472"/>
            <a:ext cx="274320" cy="274320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4709160" y="4306824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Traceability</a:t>
            </a:r>
            <a:endParaRPr lang="en-US" sz="1400" dirty="0"/>
          </a:p>
        </p:txBody>
      </p:sp>
      <p:sp>
        <p:nvSpPr>
          <p:cNvPr id="53" name="Shape 38"/>
          <p:cNvSpPr/>
          <p:nvPr/>
        </p:nvSpPr>
        <p:spPr>
          <a:xfrm>
            <a:off x="5998464" y="3346704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4" name="Shape 39"/>
          <p:cNvSpPr/>
          <p:nvPr/>
        </p:nvSpPr>
        <p:spPr>
          <a:xfrm>
            <a:off x="6364224" y="3639312"/>
            <a:ext cx="548640" cy="548640"/>
          </a:xfrm>
          <a:prstGeom prst="ellipse">
            <a:avLst/>
          </a:prstGeom>
          <a:solidFill>
            <a:srgbClr val="F5EDD8"/>
          </a:solidFill>
          <a:ln/>
        </p:spPr>
      </p:sp>
      <p:pic>
        <p:nvPicPr>
          <p:cNvPr id="55" name="Image 13" descr="/home/claude/farmverse_v2/icons/feat_rescu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01384" y="3776472"/>
            <a:ext cx="274320" cy="274320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6071616" y="4306824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Crop Rescue</a:t>
            </a:r>
            <a:endParaRPr lang="en-US" sz="1400" dirty="0"/>
          </a:p>
        </p:txBody>
      </p:sp>
      <p:sp>
        <p:nvSpPr>
          <p:cNvPr id="57" name="Shape 41"/>
          <p:cNvSpPr/>
          <p:nvPr/>
        </p:nvSpPr>
        <p:spPr>
          <a:xfrm>
            <a:off x="7360920" y="3346704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8" name="Shape 42"/>
          <p:cNvSpPr/>
          <p:nvPr/>
        </p:nvSpPr>
        <p:spPr>
          <a:xfrm>
            <a:off x="7726680" y="3639312"/>
            <a:ext cx="548640" cy="548640"/>
          </a:xfrm>
          <a:prstGeom prst="ellipse">
            <a:avLst/>
          </a:prstGeom>
          <a:solidFill>
            <a:srgbClr val="F5EDD8"/>
          </a:solidFill>
          <a:ln/>
        </p:spPr>
      </p:sp>
      <p:pic>
        <p:nvPicPr>
          <p:cNvPr id="59" name="Image 14" descr="/home/claude/farmverse_v2/icons/feat_voic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63840" y="3776472"/>
            <a:ext cx="274320" cy="274320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7434072" y="4306824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</a:t>
            </a:r>
            <a:endParaRPr lang="en-US" sz="1400" dirty="0"/>
          </a:p>
        </p:txBody>
      </p:sp>
      <p:sp>
        <p:nvSpPr>
          <p:cNvPr id="61" name="Shape 44"/>
          <p:cNvSpPr/>
          <p:nvPr/>
        </p:nvSpPr>
        <p:spPr>
          <a:xfrm>
            <a:off x="8723376" y="3346704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62" name="Shape 45"/>
          <p:cNvSpPr/>
          <p:nvPr/>
        </p:nvSpPr>
        <p:spPr>
          <a:xfrm>
            <a:off x="9089136" y="3639312"/>
            <a:ext cx="548640" cy="548640"/>
          </a:xfrm>
          <a:prstGeom prst="ellipse">
            <a:avLst/>
          </a:prstGeom>
          <a:solidFill>
            <a:srgbClr val="F5EDD8"/>
          </a:solidFill>
          <a:ln/>
        </p:spPr>
      </p:sp>
      <p:pic>
        <p:nvPicPr>
          <p:cNvPr id="63" name="Image 15" descr="/home/claude/farmverse_v2/icons/feat_notify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26296" y="3776472"/>
            <a:ext cx="274320" cy="274320"/>
          </a:xfrm>
          <a:prstGeom prst="rect">
            <a:avLst/>
          </a:prstGeom>
        </p:spPr>
      </p:pic>
      <p:sp>
        <p:nvSpPr>
          <p:cNvPr id="64" name="Text 46"/>
          <p:cNvSpPr txBox="1"/>
          <p:nvPr/>
        </p:nvSpPr>
        <p:spPr>
          <a:xfrm>
            <a:off x="8796528" y="4306824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400" dirty="0"/>
          </a:p>
        </p:txBody>
      </p:sp>
      <p:sp>
        <p:nvSpPr>
          <p:cNvPr id="65" name="Shape 47"/>
          <p:cNvSpPr/>
          <p:nvPr/>
        </p:nvSpPr>
        <p:spPr>
          <a:xfrm>
            <a:off x="10085832" y="3346704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66" name="Shape 48"/>
          <p:cNvSpPr/>
          <p:nvPr/>
        </p:nvSpPr>
        <p:spPr>
          <a:xfrm>
            <a:off x="10451592" y="3639312"/>
            <a:ext cx="548640" cy="548640"/>
          </a:xfrm>
          <a:prstGeom prst="ellipse">
            <a:avLst/>
          </a:prstGeom>
          <a:solidFill>
            <a:srgbClr val="F5EDD8"/>
          </a:solidFill>
          <a:ln/>
        </p:spPr>
      </p:sp>
      <p:pic>
        <p:nvPicPr>
          <p:cNvPr id="67" name="Image 16" descr="/home/claude/farmverse_v2/icons/feat_pdf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88752" y="3776472"/>
            <a:ext cx="274320" cy="274320"/>
          </a:xfrm>
          <a:prstGeom prst="rect">
            <a:avLst/>
          </a:prstGeom>
        </p:spPr>
      </p:pic>
      <p:sp>
        <p:nvSpPr>
          <p:cNvPr id="68" name="Text 49"/>
          <p:cNvSpPr txBox="1"/>
          <p:nvPr/>
        </p:nvSpPr>
        <p:spPr>
          <a:xfrm>
            <a:off x="10158984" y="4306824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</a:t>
            </a:r>
            <a:endParaRPr lang="en-US" sz="1400" dirty="0"/>
          </a:p>
        </p:txBody>
      </p:sp>
      <p:sp>
        <p:nvSpPr>
          <p:cNvPr id="69" name="Text 50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 |  Infosys Springboard Internship</a:t>
            </a:r>
            <a:endParaRPr lang="en-US" sz="1100" dirty="0"/>
          </a:p>
        </p:txBody>
      </p:sp>
      <p:sp>
        <p:nvSpPr>
          <p:cNvPr id="70" name="Text 51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rmverse_v2/bg/bg_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UI Mockup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11109960" cy="534924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 w="12700">
            <a:solidFill>
              <a:srgbClr val="D4C9A0"/>
            </a:solidFill>
            <a:prstDash val="solid"/>
          </a:ln>
          <a:effectLst>
            <a:outerShdw blurRad="101600" dist="25400" dir="5400000" algn="bl" rotWithShape="0">
              <a:srgbClr val="6B5D3F">
                <a:alpha val="2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5156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5190A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271016"/>
            <a:ext cx="118872" cy="118872"/>
          </a:xfrm>
          <a:prstGeom prst="ellipse">
            <a:avLst/>
          </a:prstGeom>
          <a:solidFill>
            <a:srgbClr val="C65D3A"/>
          </a:solidFill>
          <a:ln/>
        </p:spPr>
      </p:sp>
      <p:sp>
        <p:nvSpPr>
          <p:cNvPr id="7" name="Shape 4"/>
          <p:cNvSpPr/>
          <p:nvPr/>
        </p:nvSpPr>
        <p:spPr>
          <a:xfrm>
            <a:off x="1033272" y="1271016"/>
            <a:ext cx="118872" cy="11887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8" name="Shape 5"/>
          <p:cNvSpPr/>
          <p:nvPr/>
        </p:nvSpPr>
        <p:spPr>
          <a:xfrm>
            <a:off x="1289304" y="1271016"/>
            <a:ext cx="118872" cy="118872"/>
          </a:xfrm>
          <a:prstGeom prst="ellipse">
            <a:avLst/>
          </a:prstGeom>
          <a:solidFill>
            <a:srgbClr val="4A5D2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645920" y="1051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— Farmer Dashboard</a:t>
            </a:r>
            <a:endParaRPr lang="en-US" sz="1300" dirty="0"/>
          </a:p>
        </p:txBody>
      </p:sp>
      <p:pic>
        <p:nvPicPr>
          <p:cNvPr id="10" name="Image 1" descr="/home/claude/farmverse_v2/icons/dash_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17957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424160" y="10515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SHELBY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22960" y="1828800"/>
            <a:ext cx="3429000" cy="960120"/>
          </a:xfrm>
          <a:prstGeom prst="roundRect">
            <a:avLst>
              <a:gd name="adj" fmla="val 5714"/>
            </a:avLst>
          </a:prstGeom>
          <a:solidFill>
            <a:srgbClr val="FAF4E6"/>
          </a:solidFill>
          <a:ln/>
        </p:spPr>
      </p:sp>
      <p:sp>
        <p:nvSpPr>
          <p:cNvPr id="13" name="Shape 9"/>
          <p:cNvSpPr/>
          <p:nvPr/>
        </p:nvSpPr>
        <p:spPr>
          <a:xfrm>
            <a:off x="978408" y="2080260"/>
            <a:ext cx="457200" cy="457200"/>
          </a:xfrm>
          <a:prstGeom prst="ellipse">
            <a:avLst/>
          </a:prstGeom>
          <a:solidFill>
            <a:srgbClr val="F5EDD8"/>
          </a:solidFill>
          <a:ln w="12700">
            <a:solidFill>
              <a:srgbClr val="D4C9A0"/>
            </a:solidFill>
            <a:prstDash val="solid"/>
          </a:ln>
        </p:spPr>
      </p:sp>
      <p:pic>
        <p:nvPicPr>
          <p:cNvPr id="14" name="Image 2" descr="/home/claude/farmverse_v2/icons/dash_weath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21899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36192" y="195681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536192" y="2286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32°C · Partly Cloudy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453128" y="1828800"/>
            <a:ext cx="3429000" cy="960120"/>
          </a:xfrm>
          <a:prstGeom prst="roundRect">
            <a:avLst>
              <a:gd name="adj" fmla="val 5714"/>
            </a:avLst>
          </a:prstGeom>
          <a:solidFill>
            <a:srgbClr val="FAF4E6"/>
          </a:solidFill>
          <a:ln/>
        </p:spPr>
      </p:sp>
      <p:sp>
        <p:nvSpPr>
          <p:cNvPr id="18" name="Shape 13"/>
          <p:cNvSpPr/>
          <p:nvPr/>
        </p:nvSpPr>
        <p:spPr>
          <a:xfrm>
            <a:off x="4608576" y="2080260"/>
            <a:ext cx="457200" cy="457200"/>
          </a:xfrm>
          <a:prstGeom prst="ellipse">
            <a:avLst/>
          </a:prstGeom>
          <a:solidFill>
            <a:srgbClr val="F5EDD8"/>
          </a:solidFill>
          <a:ln w="12700">
            <a:solidFill>
              <a:srgbClr val="D4C9A0"/>
            </a:solidFill>
            <a:prstDash val="solid"/>
          </a:ln>
        </p:spPr>
      </p:sp>
      <p:pic>
        <p:nvPicPr>
          <p:cNvPr id="19" name="Image 3" descr="/home/claude/farmverse_v2/icons/dash_so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304" y="218998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166360" y="195681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Health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166360" y="2286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Moisture: 62% · Good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8083296" y="1828800"/>
            <a:ext cx="3429000" cy="960120"/>
          </a:xfrm>
          <a:prstGeom prst="roundRect">
            <a:avLst>
              <a:gd name="adj" fmla="val 5714"/>
            </a:avLst>
          </a:prstGeom>
          <a:solidFill>
            <a:srgbClr val="FAF4E6"/>
          </a:solidFill>
          <a:ln/>
        </p:spPr>
      </p:sp>
      <p:sp>
        <p:nvSpPr>
          <p:cNvPr id="23" name="Shape 17"/>
          <p:cNvSpPr/>
          <p:nvPr/>
        </p:nvSpPr>
        <p:spPr>
          <a:xfrm>
            <a:off x="8238744" y="2080260"/>
            <a:ext cx="457200" cy="457200"/>
          </a:xfrm>
          <a:prstGeom prst="ellipse">
            <a:avLst/>
          </a:prstGeom>
          <a:solidFill>
            <a:srgbClr val="F5EDD8"/>
          </a:solidFill>
          <a:ln w="12700">
            <a:solidFill>
              <a:srgbClr val="D4C9A0"/>
            </a:solidFill>
            <a:prstDash val="solid"/>
          </a:ln>
        </p:spPr>
      </p:sp>
      <p:pic>
        <p:nvPicPr>
          <p:cNvPr id="24" name="Image 4" descr="/home/claude/farmverse_v2/icons/dash_far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472" y="218998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796528" y="195681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Details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796528" y="2286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acres · Zone B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22960" y="2971800"/>
            <a:ext cx="3429000" cy="960120"/>
          </a:xfrm>
          <a:prstGeom prst="roundRect">
            <a:avLst>
              <a:gd name="adj" fmla="val 5714"/>
            </a:avLst>
          </a:prstGeom>
          <a:solidFill>
            <a:srgbClr val="FAF4E6"/>
          </a:solidFill>
          <a:ln/>
        </p:spPr>
      </p:sp>
      <p:sp>
        <p:nvSpPr>
          <p:cNvPr id="28" name="Shape 21"/>
          <p:cNvSpPr/>
          <p:nvPr/>
        </p:nvSpPr>
        <p:spPr>
          <a:xfrm>
            <a:off x="978408" y="3223260"/>
            <a:ext cx="457200" cy="457200"/>
          </a:xfrm>
          <a:prstGeom prst="ellipse">
            <a:avLst/>
          </a:prstGeom>
          <a:solidFill>
            <a:srgbClr val="F5EDD8"/>
          </a:solidFill>
          <a:ln w="12700">
            <a:solidFill>
              <a:srgbClr val="D4C9A0"/>
            </a:solidFill>
            <a:prstDash val="solid"/>
          </a:ln>
        </p:spPr>
      </p:sp>
      <p:pic>
        <p:nvPicPr>
          <p:cNvPr id="29" name="Image 5" descr="/home/claude/farmverse_v2/icons/dash_cro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36" y="3332988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536192" y="309981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Crop Advisory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1536192" y="3429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suggests: Maize, Ragi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4453128" y="2971800"/>
            <a:ext cx="3429000" cy="960120"/>
          </a:xfrm>
          <a:prstGeom prst="roundRect">
            <a:avLst>
              <a:gd name="adj" fmla="val 5714"/>
            </a:avLst>
          </a:prstGeom>
          <a:solidFill>
            <a:srgbClr val="FAF4E6"/>
          </a:solidFill>
          <a:ln/>
        </p:spPr>
      </p:sp>
      <p:sp>
        <p:nvSpPr>
          <p:cNvPr id="33" name="Shape 25"/>
          <p:cNvSpPr/>
          <p:nvPr/>
        </p:nvSpPr>
        <p:spPr>
          <a:xfrm>
            <a:off x="4608576" y="3223260"/>
            <a:ext cx="457200" cy="457200"/>
          </a:xfrm>
          <a:prstGeom prst="ellipse">
            <a:avLst/>
          </a:prstGeom>
          <a:solidFill>
            <a:srgbClr val="F5EDD8"/>
          </a:solidFill>
          <a:ln w="12700">
            <a:solidFill>
              <a:srgbClr val="D4C9A0"/>
            </a:solidFill>
            <a:prstDash val="solid"/>
          </a:ln>
        </p:spPr>
      </p:sp>
      <p:pic>
        <p:nvPicPr>
          <p:cNvPr id="34" name="Image 6" descr="/home/claude/farmverse_v2/icons/dash_irrigat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8304" y="3332988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166360" y="309981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Schedule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5166360" y="3429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cycle: Tomorrow 6 AM (IoT)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8083296" y="2971800"/>
            <a:ext cx="3429000" cy="960120"/>
          </a:xfrm>
          <a:prstGeom prst="roundRect">
            <a:avLst>
              <a:gd name="adj" fmla="val 5714"/>
            </a:avLst>
          </a:prstGeom>
          <a:solidFill>
            <a:srgbClr val="FAF4E6"/>
          </a:solidFill>
          <a:ln/>
        </p:spPr>
      </p:sp>
      <p:sp>
        <p:nvSpPr>
          <p:cNvPr id="38" name="Shape 29"/>
          <p:cNvSpPr/>
          <p:nvPr/>
        </p:nvSpPr>
        <p:spPr>
          <a:xfrm>
            <a:off x="8238744" y="3223260"/>
            <a:ext cx="457200" cy="457200"/>
          </a:xfrm>
          <a:prstGeom prst="ellipse">
            <a:avLst/>
          </a:prstGeom>
          <a:solidFill>
            <a:srgbClr val="F5EDD8"/>
          </a:solidFill>
          <a:ln w="12700">
            <a:solidFill>
              <a:srgbClr val="D4C9A0"/>
            </a:solidFill>
            <a:prstDash val="solid"/>
          </a:ln>
        </p:spPr>
      </p:sp>
      <p:pic>
        <p:nvPicPr>
          <p:cNvPr id="39" name="Image 7" descr="/home/claude/farmverse_v2/icons/dash_notif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8472" y="3332988"/>
            <a:ext cx="237744" cy="2377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796528" y="309981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41" name="Text 31"/>
          <p:cNvSpPr txBox="1"/>
          <p:nvPr/>
        </p:nvSpPr>
        <p:spPr>
          <a:xfrm>
            <a:off x="8796528" y="3429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new alerts pending</a:t>
            </a:r>
            <a:endParaRPr lang="en-US" sz="1200" dirty="0"/>
          </a:p>
        </p:txBody>
      </p:sp>
      <p:pic>
        <p:nvPicPr>
          <p:cNvPr id="42" name="Image 8" descr="/home/claude/farmverse_v2/icons/dash_yie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48" y="4251960"/>
            <a:ext cx="292608" cy="292608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234440" y="422452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Statistics — Interactive Chart</a:t>
            </a:r>
            <a:endParaRPr lang="en-US" sz="1600" dirty="0"/>
          </a:p>
        </p:txBody>
      </p:sp>
      <p:graphicFrame>
        <p:nvGraphicFramePr>
          <p:cNvPr id="44" name="Chart 0"/>
          <p:cNvGraphicFramePr/>
          <p:nvPr>
            <p:extLst>
              <p:ext uri="{D42A27DB-BD31-4B8C-83A1-F6EECF244321}">
                <p14:modId xmlns:p14="http://schemas.microsoft.com/office/powerpoint/2010/main" val="3960270237"/>
              </p:ext>
            </p:extLst>
          </p:nvPr>
        </p:nvGraphicFramePr>
        <p:xfrm>
          <a:off x="796391" y="4636008"/>
          <a:ext cx="10561320" cy="1581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45" name="Text 3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 |  Infosys Springboard Internship</a:t>
            </a:r>
            <a:endParaRPr lang="en-US" sz="1100" dirty="0"/>
          </a:p>
        </p:txBody>
      </p:sp>
      <p:sp>
        <p:nvSpPr>
          <p:cNvPr id="46" name="Text 34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rmverse_v2/bg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earlier roadmap items — IoT, voice assistant, AI advisory — are now live. Here's what's next.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D4A017">
                <a:alpha val="6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63040" y="1897380"/>
            <a:ext cx="777240" cy="7772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7" name="Image 1" descr="/home/claude/farmverse_v2/icons/fut_satell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7350" y="2091690"/>
            <a:ext cx="388620" cy="3886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880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Satellite</a:t>
            </a:r>
            <a:endParaRPr lang="en-US" sz="14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Imagery (Sentinel)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319272" y="150876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D4A017">
                <a:alpha val="60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33672" y="1897380"/>
            <a:ext cx="777240" cy="7772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1" name="Image 2" descr="/home/claude/farmverse_v2/icons/fut_dr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982" y="2091690"/>
            <a:ext cx="388620" cy="3886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56432" y="2880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Field</a:t>
            </a:r>
            <a:endParaRPr lang="en-US" sz="14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089904" y="150876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D4A017">
                <a:alpha val="6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004304" y="1897380"/>
            <a:ext cx="777240" cy="7772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5" name="Image 3" descr="/home/claude/farmverse_v2/icons/fut_blockch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614" y="2091690"/>
            <a:ext cx="388620" cy="3886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227064" y="2880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Blockchain-backed</a:t>
            </a:r>
            <a:endParaRPr lang="en-US" sz="14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8860536" y="150876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D4A017">
                <a:alpha val="6000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9774936" y="1897380"/>
            <a:ext cx="777240" cy="7772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9" name="Image 4" descr="/home/claude/farmverse_v2/icons/fut_mob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9246" y="2091690"/>
            <a:ext cx="388620" cy="3886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997696" y="2880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4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548640" y="384048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D4A017">
                <a:alpha val="60000"/>
              </a:srgbClr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1463040" y="4229100"/>
            <a:ext cx="777240" cy="7772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23" name="Image 5" descr="/home/claude/farmverse_v2/icons/fut_paym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7350" y="4423410"/>
            <a:ext cx="388620" cy="3886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85800" y="5212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4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3319272" y="384048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D4A017">
                <a:alpha val="60000"/>
              </a:srgbClr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4233672" y="4229100"/>
            <a:ext cx="777240" cy="7772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27" name="Image 6" descr="/home/claude/farmverse_v2/icons/fut_langu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7982" y="4423410"/>
            <a:ext cx="388620" cy="3886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3456432" y="5212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Multi-Language</a:t>
            </a:r>
            <a:endParaRPr lang="en-US" sz="14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Localization</a:t>
            </a:r>
            <a:endParaRPr lang="en-US" sz="1400" dirty="0"/>
          </a:p>
        </p:txBody>
      </p:sp>
      <p:sp>
        <p:nvSpPr>
          <p:cNvPr id="29" name="Shape 20"/>
          <p:cNvSpPr/>
          <p:nvPr/>
        </p:nvSpPr>
        <p:spPr>
          <a:xfrm>
            <a:off x="6089904" y="384048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D4A017">
                <a:alpha val="60000"/>
              </a:srgbClr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7004304" y="4229100"/>
            <a:ext cx="777240" cy="7772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31" name="Image 7" descr="/home/claude/farmverse_v2/icons/fut_predictiv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8614" y="4423410"/>
            <a:ext cx="388620" cy="38862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227064" y="5212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Yield</a:t>
            </a:r>
            <a:endParaRPr lang="en-US" sz="14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400" dirty="0"/>
          </a:p>
        </p:txBody>
      </p:sp>
      <p:sp>
        <p:nvSpPr>
          <p:cNvPr id="33" name="Shape 23"/>
          <p:cNvSpPr/>
          <p:nvPr/>
        </p:nvSpPr>
        <p:spPr>
          <a:xfrm>
            <a:off x="8860536" y="384048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D4A017">
                <a:alpha val="60000"/>
              </a:srgbClr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9774936" y="4229100"/>
            <a:ext cx="777240" cy="7772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35" name="Image 8" descr="/home/claude/farmverse_v2/icons/fut_sm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69246" y="4423410"/>
            <a:ext cx="388620" cy="38862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8997696" y="5212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Push</a:t>
            </a:r>
            <a:endParaRPr lang="en-US" sz="14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400" dirty="0"/>
          </a:p>
        </p:txBody>
      </p:sp>
      <p:sp>
        <p:nvSpPr>
          <p:cNvPr id="37" name="Text 2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 |  Infosys Springboard Internship</a:t>
            </a:r>
            <a:endParaRPr lang="en-US" sz="1100" dirty="0"/>
          </a:p>
        </p:txBody>
      </p:sp>
      <p:sp>
        <p:nvSpPr>
          <p:cNvPr id="38" name="Text 27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rmverse_v2/bg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has grown from a concept into a complete, role-aware farming platform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30936" y="1609344"/>
            <a:ext cx="566928" cy="566928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6" name="Image 1" descr="/home/claude/farmverse_v2/icons/conc_produ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99" y="1745407"/>
            <a:ext cx="294803" cy="29480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160020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Productivity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190195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C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AI-backed decisions raise farm output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30936" y="2505456"/>
            <a:ext cx="566928" cy="566928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0" name="Image 2" descr="/home/claude/farmverse_v2/icons/conc_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99" y="2641519"/>
            <a:ext cx="294803" cy="29480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249631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Throughout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2798064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C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drives advisory &amp; disease detection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30936" y="3401568"/>
            <a:ext cx="566928" cy="566928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4" name="Image 3" descr="/home/claude/farmverse_v2/icons/conc_tru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999" y="3537631"/>
            <a:ext cx="294803" cy="29480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71600" y="3392424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1371600" y="369417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C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traceability from farm to consumer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30936" y="4297680"/>
            <a:ext cx="566928" cy="566928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8" name="Image 4" descr="/home/claude/farmverse_v2/icons/conc_rol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999" y="4433743"/>
            <a:ext cx="294803" cy="29480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71600" y="4288536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Every Stakeholder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371600" y="459028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C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Farmer, Agronomist, Admin &amp; public roles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630936" y="5193792"/>
            <a:ext cx="566928" cy="566928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22" name="Image 5" descr="/home/claude/farmverse_v2/icons/conc_moder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999" y="5329855"/>
            <a:ext cx="294803" cy="294803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371600" y="518464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Modernizes Agriculture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1371600" y="54864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C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modules replace paper &amp; guesswork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7452360" y="1600200"/>
            <a:ext cx="4206240" cy="4434840"/>
          </a:xfrm>
          <a:prstGeom prst="roundRect">
            <a:avLst>
              <a:gd name="adj" fmla="val 1957"/>
            </a:avLst>
          </a:prstGeom>
          <a:solidFill>
            <a:srgbClr val="15190A">
              <a:alpha val="85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7772400" y="1874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2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dirty="0"/>
          </a:p>
        </p:txBody>
      </p:sp>
      <p:sp>
        <p:nvSpPr>
          <p:cNvPr id="27" name="Shape 19"/>
          <p:cNvSpPr/>
          <p:nvPr/>
        </p:nvSpPr>
        <p:spPr>
          <a:xfrm>
            <a:off x="7772400" y="2423160"/>
            <a:ext cx="548640" cy="548640"/>
          </a:xfrm>
          <a:prstGeom prst="ellipse">
            <a:avLst/>
          </a:prstGeom>
          <a:solidFill>
            <a:srgbClr val="4A5D23"/>
          </a:solidFill>
          <a:ln/>
        </p:spPr>
      </p:sp>
      <p:pic>
        <p:nvPicPr>
          <p:cNvPr id="28" name="Image 6" descr="/home/claude/farmverse_v2/icons/conc_stat_modul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9560" y="256032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503920" y="23774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000" dirty="0"/>
          </a:p>
        </p:txBody>
      </p:sp>
      <p:sp>
        <p:nvSpPr>
          <p:cNvPr id="30" name="Text 21"/>
          <p:cNvSpPr txBox="1"/>
          <p:nvPr/>
        </p:nvSpPr>
        <p:spPr>
          <a:xfrm>
            <a:off x="9372600" y="2377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Modules</a:t>
            </a:r>
            <a:endParaRPr lang="en-US" sz="1600" dirty="0"/>
          </a:p>
        </p:txBody>
      </p:sp>
      <p:sp>
        <p:nvSpPr>
          <p:cNvPr id="31" name="Shape 22"/>
          <p:cNvSpPr/>
          <p:nvPr/>
        </p:nvSpPr>
        <p:spPr>
          <a:xfrm>
            <a:off x="7772400" y="3291840"/>
            <a:ext cx="548640" cy="548640"/>
          </a:xfrm>
          <a:prstGeom prst="ellipse">
            <a:avLst/>
          </a:prstGeom>
          <a:solidFill>
            <a:srgbClr val="4A5D23"/>
          </a:solidFill>
          <a:ln/>
        </p:spPr>
      </p:sp>
      <p:pic>
        <p:nvPicPr>
          <p:cNvPr id="32" name="Image 7" descr="/home/claude/farmverse_v2/icons/conc_stat_entiti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9560" y="3429000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503920" y="3246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000" dirty="0"/>
          </a:p>
        </p:txBody>
      </p:sp>
      <p:sp>
        <p:nvSpPr>
          <p:cNvPr id="34" name="Text 24"/>
          <p:cNvSpPr txBox="1"/>
          <p:nvPr/>
        </p:nvSpPr>
        <p:spPr>
          <a:xfrm>
            <a:off x="9372600" y="3246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Entities</a:t>
            </a:r>
            <a:endParaRPr lang="en-US" sz="1600" dirty="0"/>
          </a:p>
        </p:txBody>
      </p:sp>
      <p:sp>
        <p:nvSpPr>
          <p:cNvPr id="35" name="Shape 25"/>
          <p:cNvSpPr/>
          <p:nvPr/>
        </p:nvSpPr>
        <p:spPr>
          <a:xfrm>
            <a:off x="7772400" y="4160520"/>
            <a:ext cx="548640" cy="548640"/>
          </a:xfrm>
          <a:prstGeom prst="ellipse">
            <a:avLst/>
          </a:prstGeom>
          <a:solidFill>
            <a:srgbClr val="4A5D23"/>
          </a:solidFill>
          <a:ln/>
        </p:spPr>
      </p:sp>
      <p:pic>
        <p:nvPicPr>
          <p:cNvPr id="36" name="Image 8" descr="/home/claude/farmverse_v2/icons/conc_stat_a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9560" y="4297680"/>
            <a:ext cx="274320" cy="27432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850392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38" name="Text 27"/>
          <p:cNvSpPr txBox="1"/>
          <p:nvPr/>
        </p:nvSpPr>
        <p:spPr>
          <a:xfrm>
            <a:off x="937260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External Integrations</a:t>
            </a:r>
            <a:endParaRPr lang="en-US" sz="1600" dirty="0"/>
          </a:p>
        </p:txBody>
      </p:sp>
      <p:sp>
        <p:nvSpPr>
          <p:cNvPr id="39" name="Shape 28"/>
          <p:cNvSpPr/>
          <p:nvPr/>
        </p:nvSpPr>
        <p:spPr>
          <a:xfrm>
            <a:off x="7772400" y="5029200"/>
            <a:ext cx="548640" cy="548640"/>
          </a:xfrm>
          <a:prstGeom prst="ellipse">
            <a:avLst/>
          </a:prstGeom>
          <a:solidFill>
            <a:srgbClr val="4A5D23"/>
          </a:solidFill>
          <a:ln/>
        </p:spPr>
      </p:sp>
      <p:pic>
        <p:nvPicPr>
          <p:cNvPr id="40" name="Image 9" descr="/home/claude/farmverse_v2/icons/conc_stat_role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9560" y="5166360"/>
            <a:ext cx="274320" cy="27432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8503920" y="49834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2" name="Text 30"/>
          <p:cNvSpPr txBox="1"/>
          <p:nvPr/>
        </p:nvSpPr>
        <p:spPr>
          <a:xfrm>
            <a:off x="9372600" y="4983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43" name="Text 31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 |  Infosys Springboard Internship</a:t>
            </a:r>
            <a:endParaRPr lang="en-US" sz="900" dirty="0"/>
          </a:p>
        </p:txBody>
      </p:sp>
      <p:sp>
        <p:nvSpPr>
          <p:cNvPr id="44" name="Text 32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rmverse_v2/bg/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54980" y="1805940"/>
            <a:ext cx="1051560" cy="105156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4" name="Image 1" descr="/home/claude/farmverse_v2/icons/thanks_h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581" y="2042541"/>
            <a:ext cx="578358" cy="57835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0" y="30632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69011" y="42976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D8D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Ragul S · I R Sinchana · Golla Ganesh · Mabuchan Minakanti · D Adithya  ·  I Akalya  ·  Infosys Springboard Internship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 |  Infosys Springboard Internship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1067</Words>
  <Application>Microsoft Office PowerPoint</Application>
  <PresentationFormat>Widescreen</PresentationFormat>
  <Paragraphs>351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Adithya Devara</cp:lastModifiedBy>
  <cp:revision>25</cp:revision>
  <dcterms:created xsi:type="dcterms:W3CDTF">2026-09-13T13:48:01Z</dcterms:created>
  <dcterms:modified xsi:type="dcterms:W3CDTF">2026-09-17T19:22:28Z</dcterms:modified>
</cp:coreProperties>
</file>